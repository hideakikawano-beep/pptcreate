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218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920240"/>
            <a:ext cx="10908792" cy="13716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3200" b="1">
                <a:solidFill>
                  <a:srgbClr val="262626"/>
                </a:solidFill>
                <a:latin typeface="Noto Sans"/>
              </a:rPr>
              <a:t>Notta × SHIRAKU API連携
ディスカッションペーパー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3383280"/>
            <a:ext cx="4572000" cy="36576"/>
          </a:xfrm>
          <a:prstGeom prst="rect">
            <a:avLst/>
          </a:prstGeom>
          <a:solidFill>
            <a:srgbClr val="218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3520440"/>
            <a:ext cx="10908792" cy="64008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600" b="0">
                <a:solidFill>
                  <a:srgbClr val="606060"/>
                </a:solidFill>
                <a:latin typeface="Noto Sans"/>
              </a:rPr>
              <a:t>Archi-Record連携に向けた技術要件確認
2026年3月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1672" cy="41148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600" b="0">
                <a:solidFill>
                  <a:srgbClr val="2180FF"/>
                </a:solidFill>
                <a:latin typeface="Noto Sans"/>
              </a:rPr>
              <a:t>SHIRAKUが実現したい連携の全体像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41248"/>
            <a:ext cx="11091672" cy="13716"/>
          </a:xfrm>
          <a:prstGeom prst="rect">
            <a:avLst/>
          </a:prstGeom>
          <a:solidFill>
            <a:srgbClr val="D0D0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982980"/>
            <a:ext cx="11091672" cy="6858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000" b="1">
                <a:solidFill>
                  <a:srgbClr val="262626"/>
                </a:solidFill>
                <a:latin typeface="Noto Sans"/>
              </a:rPr>
              <a:t>議事録動画 → Notta（AI文字起こし・Q&amp;A構造化）→ JSON送信 → Archi-RecordチェックリストへゼロタッチでQ&amp;Aが自動入力される世界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897380"/>
            <a:ext cx="5463540" cy="1437132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2061972"/>
            <a:ext cx="5134356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800" b="1">
                <a:solidFill>
                  <a:srgbClr val="2180FF"/>
                </a:solidFill>
                <a:latin typeface="Noto Sans"/>
              </a:rPr>
              <a:t>①連携フロー4ステップ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2446020"/>
            <a:ext cx="5134356" cy="7239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0">
                <a:solidFill>
                  <a:srgbClr val="262626"/>
                </a:solidFill>
                <a:latin typeface="Noto Sans"/>
              </a:rPr>
              <a:t>【Step1】動画の撮影・アップロード → 【Step2】Nottaで議事録作成（音声解析・文字起こし・話者識別・質疑応答の構造化・タイムスタンプ付与）→ 【Step3】Archi-Recordへ自動送信（JSON形式）→ 【Step4】チェックリストに自動入力。現在の手動転記ゼロを実現する。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6176772" y="1897380"/>
            <a:ext cx="5463540" cy="1437132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41364" y="2061972"/>
            <a:ext cx="5134356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800" b="1">
                <a:solidFill>
                  <a:srgbClr val="2180FF"/>
                </a:solidFill>
                <a:latin typeface="Noto Sans"/>
              </a:rPr>
              <a:t>②入力パターン A：Notta Bot使用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41364" y="2446020"/>
            <a:ext cx="5134356" cy="7239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0">
                <a:solidFill>
                  <a:srgbClr val="262626"/>
                </a:solidFill>
                <a:latin typeface="Noto Sans"/>
              </a:rPr>
              <a:t>Zoom Meetingにnotta botを招待。Zoom参加者名 → 話者名の自動マッピングにより高精度な話者識別を実現。SHIRAKUが最も期待するシナリオ。Notta BotがZoom SDKで参加し、リアルタイム文字起こし・Q&amp;A構造化を行う。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3499104"/>
            <a:ext cx="5463540" cy="1437132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13232" y="3663696"/>
            <a:ext cx="5134356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800" b="1">
                <a:solidFill>
                  <a:srgbClr val="2180FF"/>
                </a:solidFill>
                <a:latin typeface="Noto Sans"/>
              </a:rPr>
              <a:t>③入力パターン B：MP4/MP3アップロード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3232" y="4047744"/>
            <a:ext cx="5134356" cy="7239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0">
                <a:solidFill>
                  <a:srgbClr val="262626"/>
                </a:solidFill>
                <a:latin typeface="Noto Sans"/>
              </a:rPr>
              <a:t>録画済みの動画ファイルをNottaにアップロード。「話者1・話者2…」としての基本的な話者識別。ZoomのBot参加が難しい会議（対面・外部システム等）の補完手段として位置づけ。話者名の後付け編集が必要になるケースあり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76772" y="3499104"/>
            <a:ext cx="5463540" cy="1437132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41364" y="3663696"/>
            <a:ext cx="5134356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800" b="1">
                <a:solidFill>
                  <a:srgbClr val="2180FF"/>
                </a:solidFill>
                <a:latin typeface="Noto Sans"/>
              </a:rPr>
              <a:t>④Archi-Recordが欲しいJSONデータ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41364" y="4047744"/>
            <a:ext cx="5134356" cy="7239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0">
                <a:solidFill>
                  <a:srgbClr val="262626"/>
                </a:solidFill>
                <a:latin typeface="Noto Sans"/>
              </a:rPr>
              <a:t>1レコードの構成：【質問内容】【質問者】【回答】【回答者】【スクリーンショット（候補3-5枚）】＋【タイムスタンプ】。Archi-Record側のCheck ListにはAttach機能（画像添付）・質問者・内容・回答者フィールドが存在し、JSONの各フィールドと1対1で対応。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5100828"/>
            <a:ext cx="5463540" cy="1437132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13232" y="5265420"/>
            <a:ext cx="5134356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800" b="1">
                <a:solidFill>
                  <a:srgbClr val="2180FF"/>
                </a:solidFill>
                <a:latin typeface="Noto Sans"/>
              </a:rPr>
              <a:t>⑤NottaアプリのUI連携イメージ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3232" y="5649468"/>
            <a:ext cx="5134356" cy="7239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0">
                <a:solidFill>
                  <a:srgbClr val="262626"/>
                </a:solidFill>
                <a:latin typeface="Noto Sans"/>
              </a:rPr>
              <a:t>「連携とアプリ」→「すべての連携サービス」にArchi-Recordを追加。Slack・Salesforce・HubSpot等と同等のUIで「連携する」ボタンから設定。オートメーション設定で「アクション：Archi-Recordに同期」「オプション：Archi-Recordのプロジェクトを選択」というUX設計を想定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176772" y="5100828"/>
            <a:ext cx="5463540" cy="1437132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41364" y="5265420"/>
            <a:ext cx="5134356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800" b="1">
                <a:solidFill>
                  <a:srgbClr val="2180FF"/>
                </a:solidFill>
                <a:latin typeface="Noto Sans"/>
              </a:rPr>
              <a:t>⑥スクリーンショットのコンセプト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41364" y="5649468"/>
            <a:ext cx="5134356" cy="7239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0">
                <a:solidFill>
                  <a:srgbClr val="262626"/>
                </a:solidFill>
                <a:latin typeface="Noto Sans"/>
              </a:rPr>
              <a:t>質問者・回答者が発話した区間の映像キャプチャ。基本1枚で十分（多くは不要）。取得案：質問者のタイムスタンプ起点から10秒に1回程度のざっくりキャプチャ。動画ファイル自体はNotta側に保存不要（ストレージ節約）。プライバシー配慮の法的確認が要件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1672" cy="41148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600" b="0">
                <a:solidFill>
                  <a:srgbClr val="2180FF"/>
                </a:solidFill>
                <a:latin typeface="Noto Sans"/>
              </a:rPr>
              <a:t>NottaのAPI開発で考慮すべき事項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41248"/>
            <a:ext cx="11091672" cy="13716"/>
          </a:xfrm>
          <a:prstGeom prst="rect">
            <a:avLst/>
          </a:prstGeom>
          <a:solidFill>
            <a:srgbClr val="D0D0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982980"/>
            <a:ext cx="11091672" cy="6858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000" b="1">
                <a:solidFill>
                  <a:srgbClr val="262626"/>
                </a:solidFill>
                <a:latin typeface="Noto Sans"/>
              </a:rPr>
              <a:t>「連携サービス追加UI」「Q&amp;A構造化エンジン」「スクリーンショット取得」「OAuthフロー設計」の4領域がNotta側の主要開発テーマ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897380"/>
            <a:ext cx="5463540" cy="1437132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2061972"/>
            <a:ext cx="5134356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800" b="1">
                <a:solidFill>
                  <a:srgbClr val="2180FF"/>
                </a:solidFill>
                <a:latin typeface="Noto Sans"/>
              </a:rPr>
              <a:t>①Notta連携サービスへのArchi-Record追加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2446020"/>
            <a:ext cx="5134356" cy="7239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0">
                <a:solidFill>
                  <a:srgbClr val="262626"/>
                </a:solidFill>
                <a:latin typeface="Noto Sans"/>
              </a:rPr>
              <a:t>既存の「連携とアプリ」UIにArchi-Recordを追加するためのサービスカタログ登録・アイコン・説明文の整備が必要。Slack・Salesforce等と同様のパートナー連携フレームワークにArchi-Recordを組み込む。オートメーションエンジン側に「Archi-Recordへ送信」アクションを新規追加し、プロジェクトを選択できるUIコンポーネントを実装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6176772" y="1897380"/>
            <a:ext cx="5463540" cy="1437132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41364" y="2061972"/>
            <a:ext cx="5134356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800" b="1">
                <a:solidFill>
                  <a:srgbClr val="2180FF"/>
                </a:solidFill>
                <a:latin typeface="Noto Sans"/>
              </a:rPr>
              <a:t>②OAuthフロー設計（Google SSO考慮）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41364" y="2446020"/>
            <a:ext cx="5134356" cy="7239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0">
                <a:solidFill>
                  <a:srgbClr val="262626"/>
                </a:solidFill>
                <a:latin typeface="Noto Sans"/>
              </a:rPr>
              <a:t>Archi-RecordはGoogle認証を採用しているため、Slack型OAuthとの差分設計が必要。候補アプローチ：（A）Notta側がArchi-RecordのOAuth 2.0クライアントになりAuthorization Code Flowで認証、（B）Google IDトークンをArchi-Recordのバックエンドに転送してセッション連携。Archi-Record側がNotta向けにOAuth Clientを発行できるかを確認必須。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3499104"/>
            <a:ext cx="5463540" cy="1437132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13232" y="3663696"/>
            <a:ext cx="5134356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800" b="1">
                <a:solidFill>
                  <a:srgbClr val="2180FF"/>
                </a:solidFill>
                <a:latin typeface="Noto Sans"/>
              </a:rPr>
              <a:t>③Q&amp;A構造化ロジックの設計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3232" y="4047744"/>
            <a:ext cx="5134356" cy="7239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0">
                <a:solidFill>
                  <a:srgbClr val="262626"/>
                </a:solidFill>
                <a:latin typeface="Noto Sans"/>
              </a:rPr>
              <a:t>発話ストリームから「質問」「回答」ペアを自動抽出するAIパイプラインを設計。アプローチ：（A）LLMによるターン意図分類（高精度・コスト高）、（B）疑問符・疑問助詞・スピーカー交替のルールベース（高速・低コスト）。建築業界特有の専門用語（工法名・図面番号等）への対応プロンプト設計も検討。ZoomのDisplay Name → Archi-Record内話者名のマッピング機構を実装。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76772" y="3499104"/>
            <a:ext cx="5463540" cy="1437132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41364" y="3663696"/>
            <a:ext cx="5134356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800" b="1">
                <a:solidFill>
                  <a:srgbClr val="2180FF"/>
                </a:solidFill>
                <a:latin typeface="Noto Sans"/>
              </a:rPr>
              <a:t>④スクリーンショット取得の技術課題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41364" y="4047744"/>
            <a:ext cx="5134356" cy="7239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0">
                <a:solidFill>
                  <a:srgbClr val="262626"/>
                </a:solidFill>
                <a:latin typeface="Noto Sans"/>
              </a:rPr>
              <a:t>映像ソース（Zoom録画API / MP4ファイル）から指定タイムスタンプのフレームを抽出する機能が必要。実装案：Zoom Cloud Recordingのダウンロード → ffmpegによるフレーム抽出 → Notta CDNにアップロードしURLを生成。動画ファイルをNottaに永続保存せず処理後に削除することでストレージコストを抑制。スクリーンショットに第三者の映像が映り込む場合の法的・プライバシー対応も要検討。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5100828"/>
            <a:ext cx="5463540" cy="1437132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13232" y="5265420"/>
            <a:ext cx="5134356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800" b="1">
                <a:solidFill>
                  <a:srgbClr val="2180FF"/>
                </a:solidFill>
                <a:latin typeface="Noto Sans"/>
              </a:rPr>
              <a:t>⑤JSONスキーマ設計とWebhook配信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3232" y="5649468"/>
            <a:ext cx="5134356" cy="7239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0">
                <a:solidFill>
                  <a:srgbClr val="262626"/>
                </a:solidFill>
                <a:latin typeface="Noto Sans"/>
              </a:rPr>
              <a:t>SHIRAKUが期待するフィールド（質問内容・質問者・回答・回答者・スクリーンショット）＋タイムスタンプ・会議ID・話者IDをスキーマ化。Archi-Recordへの送信タイミング：議事録確定時のWebhook POST。冪等性（idempotency-key）・リトライ（最大3回・指数バックオフ）・送信ログ保持を実装。スクリーンショットの送信形式：URL参照 or Base64のどちらか確認要。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176772" y="5100828"/>
            <a:ext cx="5463540" cy="1437132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41364" y="5265420"/>
            <a:ext cx="5134356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800" b="1">
                <a:solidFill>
                  <a:srgbClr val="2180FF"/>
                </a:solidFill>
                <a:latin typeface="Noto Sans"/>
              </a:rPr>
              <a:t>⑥プライバシー・セキュリティ設計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41364" y="5649468"/>
            <a:ext cx="5134356" cy="7239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0">
                <a:solidFill>
                  <a:srgbClr val="262626"/>
                </a:solidFill>
                <a:latin typeface="Noto Sans"/>
              </a:rPr>
              <a:t>会議映像・発言者情報は個人情報保護法（APPI）対象の可能性あり。動画は処理後即時削除（保存不要方針に合致）。スクリーンショットに含まれる参加者映像の取り扱いポリシーをSHIRAKU・Notta双方で合意。通信はTLS 1.3、保存データはAES-256暗号化。DPA（データ処理契約）の締結要否も検討。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1672" cy="41148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600" b="0">
                <a:solidFill>
                  <a:srgbClr val="2180FF"/>
                </a:solidFill>
                <a:latin typeface="Noto Sans"/>
              </a:rPr>
              <a:t>SHIRAKUへ確認すべき事項 ― 技術・仕様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41248"/>
            <a:ext cx="11091672" cy="13716"/>
          </a:xfrm>
          <a:prstGeom prst="rect">
            <a:avLst/>
          </a:prstGeom>
          <a:solidFill>
            <a:srgbClr val="D0D0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982980"/>
            <a:ext cx="11091672" cy="6858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000" b="1">
                <a:solidFill>
                  <a:srgbClr val="262626"/>
                </a:solidFill>
                <a:latin typeface="Noto Sans"/>
              </a:rPr>
              <a:t>Archi-Record側API仕様・OAuthクライアント発行可否・スクリーンショット技術仕様の3点がAPI設計着手前の最重要確認事項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897380"/>
            <a:ext cx="5463540" cy="1437132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2061972"/>
            <a:ext cx="5134356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800" b="1">
                <a:solidFill>
                  <a:srgbClr val="2180FF"/>
                </a:solidFill>
                <a:latin typeface="Noto Sans"/>
              </a:rPr>
              <a:t>【確認①】Archi-Record受信API仕様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2446020"/>
            <a:ext cx="5134356" cy="7239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0">
                <a:solidFill>
                  <a:srgbClr val="262626"/>
                </a:solidFill>
                <a:latin typeface="Noto Sans"/>
              </a:rPr>
              <a:t>NottaからのJSON受信はREST API（POST）かWebhookか。エンドポイントURL・HTTPメソッド・認証方式（Bearer Token / HMAC署名 / APIキー）・レスポンスコード定義（200/400/409/429/500等）を共有いただきたい。既存のOpenAPI仕様書・Postmanコレクションがあれば提供をお願いしたい。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6176772" y="1897380"/>
            <a:ext cx="5463540" cy="1437132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41364" y="2061972"/>
            <a:ext cx="5134356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800" b="1">
                <a:solidFill>
                  <a:srgbClr val="2180FF"/>
                </a:solidFill>
                <a:latin typeface="Noto Sans"/>
              </a:rPr>
              <a:t>【確認②】OAuth認証方式の詳細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41364" y="2446020"/>
            <a:ext cx="5134356" cy="7239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0">
                <a:solidFill>
                  <a:srgbClr val="262626"/>
                </a:solidFill>
                <a:latin typeface="Noto Sans"/>
              </a:rPr>
              <a:t>Archi-RecordがGoogleログインを採用していることを踏まえ、Notta-Archi-Record間の認証をどう設計するか合意が必要。①Archi-RecordがNotta向けにOAuth 2.0クライアントIDを発行できるか、②既存のSlack連携でのOAuthフロー実装例・シーケンス図を共有いただけるか、③Google IDトークンの転送方式を採用する可能性があるか確認したい。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3499104"/>
            <a:ext cx="5463540" cy="1437132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13232" y="3663696"/>
            <a:ext cx="5134356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800" b="1">
                <a:solidFill>
                  <a:srgbClr val="2180FF"/>
                </a:solidFill>
                <a:latin typeface="Noto Sans"/>
              </a:rPr>
              <a:t>【確認③】JSONフィールド詳細と命名規則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3232" y="4047744"/>
            <a:ext cx="5134356" cy="7239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0">
                <a:solidFill>
                  <a:srgbClr val="262626"/>
                </a:solidFill>
                <a:latin typeface="Noto Sans"/>
              </a:rPr>
              <a:t>フィールド名の命名規則（camelCase/snake_case）・型定義・必須/任意・null許容ルール・文字数上限を確認。特にスクリーンショットはURL（CDN参照）で受け取るかBase64エンコードで受け取るかの選択、複数枚送信時の配列形式の仕様を明確にしたい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76772" y="3499104"/>
            <a:ext cx="5463540" cy="1437132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41364" y="3663696"/>
            <a:ext cx="5134356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800" b="1">
                <a:solidFill>
                  <a:srgbClr val="2180FF"/>
                </a:solidFill>
                <a:latin typeface="Noto Sans"/>
              </a:rPr>
              <a:t>【確認④】スクリーンショットの技術仕様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41364" y="4047744"/>
            <a:ext cx="5134356" cy="7239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0">
                <a:solidFill>
                  <a:srgbClr val="262626"/>
                </a:solidFill>
                <a:latin typeface="Noto Sans"/>
              </a:rPr>
              <a:t>Archi-RecordのAttach機能で許容される画像フォーマット（JPEG/PNG/WebP）・ファイルサイズ上限（例：1MB/枚）・解像度を確認。現資料では「基本1枚・3-5枚候補」の記載があるが、最終的に何枚をNottaから送信すべきか決定が必要。スクリーンショット選択UIをNotta側で提供するかArchi-Record側で自動選択するかも検討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5100828"/>
            <a:ext cx="5463540" cy="1437132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13232" y="5265420"/>
            <a:ext cx="5134356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800" b="1">
                <a:solidFill>
                  <a:srgbClr val="2180FF"/>
                </a:solidFill>
                <a:latin typeface="Noto Sans"/>
              </a:rPr>
              <a:t>【確認⑤】話者名マッピング仕様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3232" y="5649468"/>
            <a:ext cx="5134356" cy="7239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0">
                <a:solidFill>
                  <a:srgbClr val="262626"/>
                </a:solidFill>
                <a:latin typeface="Noto Sans"/>
              </a:rPr>
              <a:t>Pattern A（Notta Bot for Zoom）ではZoom Display Name → Archi-Recordのメンバー名への自動マッピングを想定しているが、マッピングの方法を確認。①Archi-Recordのメンバーリスト取得APIがあるか、②ユーザーが手動でマッピング設定するUIを用意するか、③Pattern B（MP4/MP3）での話者1・話者2の名前後付け編集フローをArchi-Record側でどう扱うか。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176772" y="5100828"/>
            <a:ext cx="5463540" cy="1437132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41364" y="5265420"/>
            <a:ext cx="5134356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800" b="1">
                <a:solidFill>
                  <a:srgbClr val="2180FF"/>
                </a:solidFill>
                <a:latin typeface="Noto Sans"/>
              </a:rPr>
              <a:t>【確認⑥】Archi-Recordシステム構成とSLA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41364" y="5649468"/>
            <a:ext cx="5134356" cy="7239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0">
                <a:solidFill>
                  <a:srgbClr val="262626"/>
                </a:solidFill>
                <a:latin typeface="Noto Sans"/>
              </a:rPr>
              <a:t>クラウドSaaSかオンプレミスかを確認。API rate limit（リクエスト数/分）・同時接続数上限・レスポンスタイムSLA（例：P95で3秒以内）・メンテナンス時間帯の通知方法。テスト・E2E検証に向けたサンドボックス環境の提供可否。本番移行後の月間会議件数・データ量の見込みも共有いただきたい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1672" cy="41148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600" b="0">
                <a:solidFill>
                  <a:srgbClr val="2180FF"/>
                </a:solidFill>
                <a:latin typeface="Noto Sans"/>
              </a:rPr>
              <a:t>SHIRAKUへ確認すべき事項 ― 業務・スケジュール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41248"/>
            <a:ext cx="11091672" cy="13716"/>
          </a:xfrm>
          <a:prstGeom prst="rect">
            <a:avLst/>
          </a:prstGeom>
          <a:solidFill>
            <a:srgbClr val="D0D0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982980"/>
            <a:ext cx="11091672" cy="6858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000" b="1">
                <a:solidFill>
                  <a:srgbClr val="262626"/>
                </a:solidFill>
                <a:latin typeface="Noto Sans"/>
              </a:rPr>
              <a:t>PoCスコープと成功KPIの早期合意により両社の開発リソースを適切に配置し、品質目標と検証期間を確定する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897380"/>
            <a:ext cx="5463540" cy="1437132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2061972"/>
            <a:ext cx="5134356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800" b="1">
                <a:solidFill>
                  <a:srgbClr val="2180FF"/>
                </a:solidFill>
                <a:latin typeface="Noto Sans"/>
              </a:rPr>
              <a:t>【確認⑦】PoCスコープと対象シナリオ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2446020"/>
            <a:ext cx="5134356" cy="7239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0">
                <a:solidFill>
                  <a:srgbClr val="262626"/>
                </a:solidFill>
                <a:latin typeface="Noto Sans"/>
              </a:rPr>
              <a:t>PoC対象とする会議の種類（現場確認会議・設計打ち合わせ等）・件数・参加者数上限。Pattern A（Notta Bot）とPattern B（MP4/MP3アップロード）のどちらを先行検証するか。Archi-RecordのCheck Listテンプレートの種類（建築確認/工程管理等）とQ&amp;Aペアの想定件数（1会議あたり平均何件）を共有いただきたい。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6176772" y="1897380"/>
            <a:ext cx="5463540" cy="1437132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41364" y="2061972"/>
            <a:ext cx="5134356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800" b="1">
                <a:solidFill>
                  <a:srgbClr val="2180FF"/>
                </a:solidFill>
                <a:latin typeface="Noto Sans"/>
              </a:rPr>
              <a:t>【確認⑧】自動入力の期待精度と承認フロー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41364" y="2446020"/>
            <a:ext cx="5134356" cy="7239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0">
                <a:solidFill>
                  <a:srgbClr val="262626"/>
                </a:solidFill>
                <a:latin typeface="Noto Sans"/>
              </a:rPr>
              <a:t>Q&amp;A抽出・チェックリスト自動入力の精度目標（例：適合率80%以上）を確認。誤入力・誤認識時の修正フロー（ユーザーが手動修正 or Nottaへ再送信要求）と、人間承認ステップの要否（確認後自動反映 / 即時反映の2モード）を取り決めたい。建築専門用語・プロジェクト固有名詞の精度向上策も議論したい。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3499104"/>
            <a:ext cx="5463540" cy="1437132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13232" y="3663696"/>
            <a:ext cx="5134356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800" b="1">
                <a:solidFill>
                  <a:srgbClr val="2180FF"/>
                </a:solidFill>
                <a:latin typeface="Noto Sans"/>
              </a:rPr>
              <a:t>【確認⑨】スケジュール・マイルストーン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3232" y="4047744"/>
            <a:ext cx="5134356" cy="7239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0">
                <a:solidFill>
                  <a:srgbClr val="262626"/>
                </a:solidFill>
                <a:latin typeface="Noto Sans"/>
              </a:rPr>
              <a:t>【M1】API仕様・JSONスキーマ合意、【M2】OAuth認証フロー実装・単体テスト完了、【M3】Q&amp;A構造化+スクリーンショット取得実装完了、【M4】Archi-Record側アダプター実装・結合テスト、【M5】E2Eテスト・PoC本番開始・評価。各マイルストーンの目標日程をSHIRAKUと合意したい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76772" y="3499104"/>
            <a:ext cx="5463540" cy="1437132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41364" y="3663696"/>
            <a:ext cx="5134356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800" b="1">
                <a:solidFill>
                  <a:srgbClr val="2180FF"/>
                </a:solidFill>
                <a:latin typeface="Noto Sans"/>
              </a:rPr>
              <a:t>【確認⑩】Slack連携の実装詳細共有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41364" y="4047744"/>
            <a:ext cx="5134356" cy="7239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0">
                <a:solidFill>
                  <a:srgbClr val="262626"/>
                </a:solidFill>
                <a:latin typeface="Noto Sans"/>
              </a:rPr>
              <a:t>NottaにはSlack連携が既に実装されているため、Archi-Record連携のOAuthフロー設計参考として実装例を共有。SHIRAKU側でも既存Slack連携があればOAuth設計・シーケンス図・API設計パターンをNotta側に提供いただけると開発効率が上がる。共有形式（Notion / GitHub / OpenAPI仕様書等）を確認。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5100828"/>
            <a:ext cx="5463540" cy="1437132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13232" y="5265420"/>
            <a:ext cx="5134356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800" b="1">
                <a:solidFill>
                  <a:srgbClr val="2180FF"/>
                </a:solidFill>
                <a:latin typeface="Noto Sans"/>
              </a:rPr>
              <a:t>【確認⑪】データ利用・プライバシー・契約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3232" y="5649468"/>
            <a:ext cx="5134356" cy="7239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0">
                <a:solidFill>
                  <a:srgbClr val="262626"/>
                </a:solidFill>
                <a:latin typeface="Noto Sans"/>
              </a:rPr>
              <a:t>会議映像（スクリーンショット取得後は削除想定）・議事録テキスト・発言者情報の二次利用範囲（AI学習利用の可否等）。NDA・DPA（データ処理契約）の締結要否。建築現場の映像に含まれる未公開図面・設計情報の機密扱い。個人情報保護法（APPI）準拠の対応方針をSHIRAKU側で確認済みかどうか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176772" y="5100828"/>
            <a:ext cx="5463540" cy="1437132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41364" y="5265420"/>
            <a:ext cx="5134356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800" b="1">
                <a:solidFill>
                  <a:srgbClr val="2180FF"/>
                </a:solidFill>
                <a:latin typeface="Noto Sans"/>
              </a:rPr>
              <a:t>【確認⑫】窓口・体制・意思決定フロー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41364" y="5649468"/>
            <a:ext cx="5134356" cy="7239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0">
                <a:solidFill>
                  <a:srgbClr val="262626"/>
                </a:solidFill>
                <a:latin typeface="Noto Sans"/>
              </a:rPr>
              <a:t>技術担当（APIスキーマ・インフラ担当）とビジネス担当（要件・契約担当）の連絡先確認。仕様変更・追加要望の受付フロー（GitHubイシュー / Notion / メール等）・意思決定者の特定。定期進捗MTGの頻度・形式（週次/隔週/Zoom）・初回キックオフの日程候補を決定したい。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