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成約率75.9%は高い水準。パイプライン総額約1億円に対し、成約合計は約2,300万円。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メール中心の営業スタイル。ミーティングや電話の活用強化で成約率向上の可能性あり。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トーイン株式会社は3年分の契約を獲得。ネクサス・アールハウジングは5日で成約という短期案件。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小規模案件が過半数だが、大型案件が金額ベースでは大きなウエイト。¥1M超の案件育成が重要。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2月は件数最多の48件。3月は途中時点のため金額減少。パイプライン累計は約1億円に到達。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FOOD_PRODUCTIONは金額最大だが未成約。進行中案件の確実なクロージングが最重要課題。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失注理由を4カテゴリに分類。各カテゴリに対する具体的な対策立案が必要。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パイプラインは順調に成長。12月以降、月30件以上の新規創出を維持。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ハイライトとローライトを対比し、次のアクションに繋げる。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1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908792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>
                <a:solidFill>
                  <a:srgbClr val="262626"/>
                </a:solidFill>
                <a:latin typeface="Noto Sans"/>
              </a:rPr>
              <a:t>HubSpot 営業実績分析レポート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383280"/>
            <a:ext cx="4572000" cy="36576"/>
          </a:xfrm>
          <a:prstGeom prst="rect">
            <a:avLst/>
          </a:prstGeom>
          <a:solidFill>
            <a:srgbClr val="21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520440"/>
            <a:ext cx="10908792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606060"/>
                </a:solidFill>
                <a:latin typeface="Noto Sans"/>
              </a:rPr>
              <a:t>Hideaki Kawano | 全期間分析 | 2026年3月27日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2180FF"/>
                </a:solidFill>
                <a:latin typeface="Noto Sans"/>
              </a:rPr>
              <a:t>1. 取引サマリー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41248"/>
            <a:ext cx="11091672" cy="13716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82980"/>
            <a:ext cx="11091672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262626"/>
                </a:solidFill>
                <a:latin typeface="Noto Sans"/>
              </a:rPr>
              <a:t>総取引174件、成約率75.9%、成約合計金額 ¥23,066,932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97380"/>
            <a:ext cx="3587496" cy="46405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2061972"/>
            <a:ext cx="3258312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取引件数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446020"/>
            <a:ext cx="3258312" cy="39273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総取引数: 174件
成約数: 88件
失注数: 28件
進行中: 58件</a:t>
            </a:r>
          </a:p>
        </p:txBody>
      </p:sp>
      <p:sp>
        <p:nvSpPr>
          <p:cNvPr id="8" name="Rectangle 7"/>
          <p:cNvSpPr/>
          <p:nvPr/>
        </p:nvSpPr>
        <p:spPr>
          <a:xfrm>
            <a:off x="4300728" y="1897380"/>
            <a:ext cx="3587496" cy="46405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65320" y="2061972"/>
            <a:ext cx="3258312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成約パフォーマンス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65320" y="2446020"/>
            <a:ext cx="3258312" cy="39273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成約率: 75.9%
成約合計金額: ¥23,066,932
平均成約額: ¥262,124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52816" y="1897380"/>
            <a:ext cx="3587496" cy="46405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17408" y="2061972"/>
            <a:ext cx="3258312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リードタイム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17408" y="2446020"/>
            <a:ext cx="3258312" cy="39273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平均リードタイム（成約）: 22.8日
パイプライン総額: ¥99,358,610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2180FF"/>
                </a:solidFill>
                <a:latin typeface="Noto Sans"/>
              </a:rPr>
              <a:t>2. 成約までのアクティビティ分析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41248"/>
            <a:ext cx="11091672" cy="13716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82980"/>
            <a:ext cx="11091672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262626"/>
                </a:solidFill>
                <a:latin typeface="Noto Sans"/>
              </a:rPr>
              <a:t>成約案件の平均アクティビティ数 14.6件 — メールが全体の85%を占める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97380"/>
            <a:ext cx="5463540" cy="2237994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2061972"/>
            <a:ext cx="513435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メール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446020"/>
            <a:ext cx="5134356" cy="152476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合計: 2,387件
平均/案件: 13.7件
全アクティビティの85%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6772" y="1897380"/>
            <a:ext cx="5463540" cy="2237994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41364" y="2061972"/>
            <a:ext cx="513435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タスク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41364" y="2446020"/>
            <a:ext cx="5134356" cy="152476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合計: 217件
平均/案件: 1.2件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299966"/>
            <a:ext cx="5463540" cy="2237994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4464558"/>
            <a:ext cx="513435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ミーティング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4848606"/>
            <a:ext cx="5134356" cy="152476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合計: 106件
平均/案件: 0.6件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6772" y="4299966"/>
            <a:ext cx="5463540" cy="2237994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1364" y="4464558"/>
            <a:ext cx="513435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電話・ノート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1364" y="4848606"/>
            <a:ext cx="5134356" cy="152476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電話: 52件（平均0.3件/案件）
ノート: 49件（平均0.3件/案件）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2180FF"/>
                </a:solidFill>
                <a:latin typeface="Noto Sans"/>
              </a:rPr>
              <a:t>3. 成約案件トップ5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41248"/>
            <a:ext cx="11091672" cy="13716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82980"/>
            <a:ext cx="11091672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262626"/>
                </a:solidFill>
                <a:latin typeface="Noto Sans"/>
              </a:rPr>
              <a:t>最高額成約は京都総研コンサルティング ¥2,604,000（リードタイム156日）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97380"/>
            <a:ext cx="5463540" cy="143713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2061972"/>
            <a:ext cx="513435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京都総研コンサルティング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446020"/>
            <a:ext cx="5134356" cy="7239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金額: ¥2,604,000
リードタイム: 156日
アクティビティ数: 72件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6772" y="1897380"/>
            <a:ext cx="5463540" cy="143713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41364" y="2061972"/>
            <a:ext cx="513435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トーイン株式会社（1st year）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41364" y="2446020"/>
            <a:ext cx="5134356" cy="7239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金額: ¥1,641,600
リードタイム: 105日
アクティビティ数: 43件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499104"/>
            <a:ext cx="5463540" cy="143713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3663696"/>
            <a:ext cx="513435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トーイン株式会社（2nd year）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4047744"/>
            <a:ext cx="5134356" cy="7239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金額: ¥1,641,600
リードタイム: 84日
アクティビティ数: 19件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6772" y="3499104"/>
            <a:ext cx="5463540" cy="143713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1364" y="3663696"/>
            <a:ext cx="513435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トーイン株式会社（3rd year）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1364" y="4047744"/>
            <a:ext cx="5134356" cy="7239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金額: ¥1,641,600
リードタイム: 84日
アクティビティ数: 19件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100828"/>
            <a:ext cx="5463540" cy="143713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5265420"/>
            <a:ext cx="513435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ネクサス・アールハウジング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5649468"/>
            <a:ext cx="5134356" cy="7239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金額: ¥1,577,955
リードタイム: 5日
アクティビティ数: 8件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2180FF"/>
                </a:solidFill>
                <a:latin typeface="Noto Sans"/>
              </a:rPr>
              <a:t>4. 取引金額帯分布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41248"/>
            <a:ext cx="11091672" cy="13716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82980"/>
            <a:ext cx="11091672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262626"/>
                </a:solidFill>
                <a:latin typeface="Noto Sans"/>
              </a:rPr>
              <a:t>¥100,000未満が92件（53%）を占める一方、¥1,000,000超の案件が25件存在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97380"/>
            <a:ext cx="3587496" cy="46405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2061972"/>
            <a:ext cx="3258312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小規模案件（~¥100K）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446020"/>
            <a:ext cx="3258312" cy="39273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92件（全体の53%）
数量ベースの主力セグメント</a:t>
            </a:r>
          </a:p>
        </p:txBody>
      </p:sp>
      <p:sp>
        <p:nvSpPr>
          <p:cNvPr id="8" name="Rectangle 7"/>
          <p:cNvSpPr/>
          <p:nvPr/>
        </p:nvSpPr>
        <p:spPr>
          <a:xfrm>
            <a:off x="4300728" y="1897380"/>
            <a:ext cx="3587496" cy="46405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65320" y="2061972"/>
            <a:ext cx="3258312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中規模案件（¥100K~¥1M）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65320" y="2446020"/>
            <a:ext cx="3258312" cy="39273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¥100K~¥500K: 39件
¥500K~¥1M: 6件
合計45件（26%）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52816" y="1897380"/>
            <a:ext cx="3587496" cy="46405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17408" y="2061972"/>
            <a:ext cx="3258312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大型案件（¥1M超）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17408" y="2446020"/>
            <a:ext cx="3258312" cy="39273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¥1M~¥5M: 23件
¥5M~¥10M: 1件
¥10M超: 1件
合計25件（14%）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2180FF"/>
                </a:solidFill>
                <a:latin typeface="Noto Sans"/>
              </a:rPr>
              <a:t>5. 月別取引推移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41248"/>
            <a:ext cx="11091672" cy="13716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82980"/>
            <a:ext cx="11091672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262626"/>
                </a:solidFill>
                <a:latin typeface="Noto Sans"/>
              </a:rPr>
              <a:t>2026年1-2月にピーク到達 — 月間新規金額 ¥27M~¥29M規模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97380"/>
            <a:ext cx="5463540" cy="2237994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2061972"/>
            <a:ext cx="513435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2025年10-11月（立ち上げ期）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446020"/>
            <a:ext cx="5134356" cy="152476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10月: 1件 / ¥2,604,000
11月: 14件 / ¥11,805,172
累積: ¥14,409,172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6772" y="1897380"/>
            <a:ext cx="5463540" cy="2237994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41364" y="2061972"/>
            <a:ext cx="513435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2025年12月（成長期）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41364" y="2446020"/>
            <a:ext cx="5134356" cy="152476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新規: 41件 / ¥18,419,259
累積: ¥32,828,431
前月比+56%の伸び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299966"/>
            <a:ext cx="5463540" cy="2237994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4464558"/>
            <a:ext cx="513435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2026年1月（ピーク期）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4848606"/>
            <a:ext cx="5134356" cy="152476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新規: 31件 / ¥27,384,662
累積: ¥60,213,093
金額ベースで最大成長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6772" y="4299966"/>
            <a:ext cx="5463540" cy="2237994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1364" y="4464558"/>
            <a:ext cx="513435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2026年2-3月（安定期）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1364" y="4848606"/>
            <a:ext cx="5134356" cy="152476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2月: 48件 / ¥28,948,867
3月: 39件 / ¥10,196,650
累積: ¥99,358,610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2180FF"/>
                </a:solidFill>
                <a:latin typeface="Noto Sans"/>
              </a:rPr>
              <a:t>6. 業界別分析（上位10業界）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41248"/>
            <a:ext cx="11091672" cy="13716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82980"/>
            <a:ext cx="11091672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262626"/>
                </a:solidFill>
                <a:latin typeface="Noto Sans"/>
              </a:rPr>
              <a:t>FOOD_PRODUCTION（¥17M）が金額トップ、医療・不動産・ITが主要セグメント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97380"/>
            <a:ext cx="5463540" cy="2237994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2061972"/>
            <a:ext cx="513435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金額上位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446020"/>
            <a:ext cx="5134356" cy="152476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FOOD_PRODUCTION: ¥17,000,000（2件・成約0）
不明: ¥13,576,119（32件・成約率88%）
HOSPITAL_HEALTH_CARE: ¥8,844,302（31件・成約率83%）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6772" y="1897380"/>
            <a:ext cx="5463540" cy="2237994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41364" y="2061972"/>
            <a:ext cx="513435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高成約率業界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41364" y="2446020"/>
            <a:ext cx="5134356" cy="152476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MACHINERY: 100%（5件中4件成約）
PHARMACEUTICALS: 100%（5件中4件成約）
CONSTRUCTION: 100%（3件中3件成約）
CONSUMER_SERVICES: 100%（2件中2件成約）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299966"/>
            <a:ext cx="5463540" cy="2237994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4464558"/>
            <a:ext cx="513435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注力業界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4848606"/>
            <a:ext cx="5134356" cy="152476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REAL_ESTATE: 成約率86% / ¥7,203,939
MANAGEMENT_CONSULTING: 成約率75% / ¥5,927,062
WHOLESALE: 成約率75% / ¥4,839,700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6772" y="4299966"/>
            <a:ext cx="5463540" cy="2237994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1364" y="4464558"/>
            <a:ext cx="513435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未開拓・低成約率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1364" y="4848606"/>
            <a:ext cx="5134356" cy="152476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COMPUTER_SOFTWARE: 成約率0%（¥6.1M）
FINANCIAL_SERVICES: 成約率0%（¥3.8M）
FOOD_PRODUCTION: 成約率0%（¥17M）
→ 大型案件の進行中に注目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2180FF"/>
                </a:solidFill>
                <a:latin typeface="Noto Sans"/>
              </a:rPr>
              <a:t>7. 失注理由分析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41248"/>
            <a:ext cx="11091672" cy="13716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82980"/>
            <a:ext cx="11091672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262626"/>
                </a:solidFill>
                <a:latin typeface="Noto Sans"/>
              </a:rPr>
              <a:t>失注28件中、競合選定・導入時期未定・レス無しが主要因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97380"/>
            <a:ext cx="5463540" cy="2237994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2061972"/>
            <a:ext cx="513435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競合・代替ツール選定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446020"/>
            <a:ext cx="5134356" cy="152476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ailead+samurAI選定（カスタマイズ性）
Automemo選定（価格差）
RimoVoice選定（音声認識精度）
Medimo選定（学習コスト低）
→ 差別化ポイントの明確化が必要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6772" y="1897380"/>
            <a:ext cx="5463540" cy="2237994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41364" y="2061972"/>
            <a:ext cx="513435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導入時期・環境問題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41364" y="2446020"/>
            <a:ext cx="5134356" cy="152476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導入時期未定（時期尚早の判断）
セキュリティポリシー整合の課題
NW環境制約（オンプレ検討）
自社ツール継続利用
→ 長期フォロー体制の構築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299966"/>
            <a:ext cx="5463540" cy="2237994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4464558"/>
            <a:ext cx="513435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ニーズ不一致・ROI問題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4848606"/>
            <a:ext cx="5134356" cy="152476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CRM未導入でROI不足
文字起こし精度の問題
利用者リテラシーの課題
要件不一致（固定電話録音）
→ 事前ヒアリング強化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6772" y="4299966"/>
            <a:ext cx="5463540" cy="2237994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1364" y="4464558"/>
            <a:ext cx="513435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コミュニケーション途絶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1364" y="4848606"/>
            <a:ext cx="5134356" cy="152476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レス無し: 3件（最多理由）
長期無応答によるLost
→ フォローアップの自動化
→ エスカレーション基準の設定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2180FF"/>
                </a:solidFill>
                <a:latin typeface="Noto Sans"/>
              </a:rPr>
              <a:t>8. パイプライン推移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41248"/>
            <a:ext cx="11091672" cy="13716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82980"/>
            <a:ext cx="11091672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262626"/>
                </a:solidFill>
                <a:latin typeface="Noto Sans"/>
              </a:rPr>
              <a:t>6ヶ月でパイプライン ¥99,358,610 を構築 — 月平均 ¥16.6M の新規創出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97380"/>
            <a:ext cx="5463540" cy="46405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2061972"/>
            <a:ext cx="513435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累積パイプライン推移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446020"/>
            <a:ext cx="5134356" cy="39273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10月: ¥2,604,000（1件）
11月: ¥14,409,172（15件）
12月: ¥32,828,431（56件）
1月: ¥60,213,093（87件）
2月: ¥89,161,960（135件）
3月: ¥99,358,610（174件）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6772" y="1897380"/>
            <a:ext cx="5463540" cy="46405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41364" y="2061972"/>
            <a:ext cx="513435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進行中案件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41364" y="2446020"/>
            <a:ext cx="5134356" cy="39273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進行中: 58件
パイプライン総額に占める割合が大きい
→ 確実なクロージングが今後の鍵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2180FF"/>
                </a:solidFill>
                <a:latin typeface="Noto Sans"/>
              </a:rPr>
              <a:t>9. ハイライト &amp; ローライト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41248"/>
            <a:ext cx="11091672" cy="13716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82980"/>
            <a:ext cx="11091672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262626"/>
                </a:solidFill>
                <a:latin typeface="Noto Sans"/>
              </a:rPr>
              <a:t>高い成約率（75.9%）を維持しつつ、大型失注・長期案件への対策が課題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97380"/>
            <a:ext cx="3587496" cy="46405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2061972"/>
            <a:ext cx="3258312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ハイライト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446020"/>
            <a:ext cx="3258312" cy="39273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最高額成約: 京都総研コンサルティング（¥2,604,000）
最短成約: CISTEC_Biz_1_Upsell（0日）
成約率75.9%の高水準
6ヶ月でパイプライン約1億円構築</a:t>
            </a:r>
          </a:p>
        </p:txBody>
      </p:sp>
      <p:sp>
        <p:nvSpPr>
          <p:cNvPr id="8" name="Rectangle 7"/>
          <p:cNvSpPr/>
          <p:nvPr/>
        </p:nvSpPr>
        <p:spPr>
          <a:xfrm>
            <a:off x="4300728" y="1897380"/>
            <a:ext cx="3587496" cy="46405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65320" y="2061972"/>
            <a:ext cx="3258312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ローライト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65320" y="2446020"/>
            <a:ext cx="3258312" cy="39273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最高額失注: OpenWork（¥6,872,480）
最長失注リードタイム: エポック社（91日）
リードタイム超過案件: 21件（平均比50%超）
レス無し失注への対策が急務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52816" y="1897380"/>
            <a:ext cx="3587496" cy="46405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17408" y="2061972"/>
            <a:ext cx="3258312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改善アクション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17408" y="2446020"/>
            <a:ext cx="3258312" cy="39273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1. 大型案件のクロージング強化
2. フォローアップ自動化
3. リードタイム短縮プロセスの導入
4. 競合差別化ポイントの明確化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