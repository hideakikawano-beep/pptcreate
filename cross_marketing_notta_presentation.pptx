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50分の実商談から合意事項を6点に集約。全員が同じ認識を持っていることを確認するためのアライメントスライド</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現状7ステップ（課題認識→仮説化→設計→配信→回収→分析→レポート）を2ステップに圧縮するインパクトを強調</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CMG側エンジニアリソースが限定的である点を踏まえ、Notta側が最大限吸収する設計方針を示す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岡崎様の「失敗しても数百万円」「開発スピードが遅い」発言を踏まえたリアリスティックな設計。Go/No-Go判断を明確化することがPoC合意の鍵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218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920240"/>
            <a:ext cx="10908792" cy="1371600"/>
          </a:xfrm>
          <a:prstGeom prst="rect">
            <a:avLst/>
          </a:prstGeom>
          <a:noFill/>
        </p:spPr>
        <p:txBody>
          <a:bodyPr wrap="square"/>
          <a:lstStyle/>
          <a:p>
            <a:pPr algn="l"/>
            <a:r>
              <a:rPr sz="3200" b="1">
                <a:solidFill>
                  <a:srgbClr val="262626"/>
                </a:solidFill>
                <a:latin typeface="Noto Sans"/>
              </a:rPr>
              <a:t>Notta × クロスマーケティンググループ
協業提案書</a:t>
            </a:r>
          </a:p>
        </p:txBody>
      </p:sp>
      <p:sp>
        <p:nvSpPr>
          <p:cNvPr id="4" name="Rectangle 3"/>
          <p:cNvSpPr/>
          <p:nvPr/>
        </p:nvSpPr>
        <p:spPr>
          <a:xfrm>
            <a:off x="731520" y="3383280"/>
            <a:ext cx="4572000" cy="36576"/>
          </a:xfrm>
          <a:prstGeom prst="rect">
            <a:avLst/>
          </a:prstGeom>
          <a:solidFill>
            <a:srgbClr val="218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520440"/>
            <a:ext cx="10908792" cy="640080"/>
          </a:xfrm>
          <a:prstGeom prst="rect">
            <a:avLst/>
          </a:prstGeom>
          <a:noFill/>
        </p:spPr>
        <p:txBody>
          <a:bodyPr wrap="square"/>
          <a:lstStyle/>
          <a:p>
            <a:pPr algn="l"/>
            <a:r>
              <a:rPr sz="1600" b="0">
                <a:solidFill>
                  <a:srgbClr val="606060"/>
                </a:solidFill>
                <a:latin typeface="Noto Sans"/>
              </a:rPr>
              <a:t>音声データ起点の次世代リサーチプラットフォーム構想
2026年3月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1672" cy="411480"/>
          </a:xfrm>
          <a:prstGeom prst="rect">
            <a:avLst/>
          </a:prstGeom>
          <a:noFill/>
        </p:spPr>
        <p:txBody>
          <a:bodyPr wrap="square"/>
          <a:lstStyle/>
          <a:p>
            <a:pPr algn="l"/>
            <a:r>
              <a:rPr sz="1600" b="0">
                <a:solidFill>
                  <a:srgbClr val="2180FF"/>
                </a:solidFill>
                <a:latin typeface="Noto Sans"/>
              </a:rPr>
              <a:t>本日の議論サマリー（2026.03.12 / 50分）</a:t>
            </a:r>
          </a:p>
        </p:txBody>
      </p:sp>
      <p:sp>
        <p:nvSpPr>
          <p:cNvPr id="3" name="Rectangle 2"/>
          <p:cNvSpPr/>
          <p:nvPr/>
        </p:nvSpPr>
        <p:spPr>
          <a:xfrm>
            <a:off x="548640" y="841248"/>
            <a:ext cx="11091672" cy="13716"/>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82980"/>
            <a:ext cx="11091672" cy="685800"/>
          </a:xfrm>
          <a:prstGeom prst="rect">
            <a:avLst/>
          </a:prstGeom>
          <a:noFill/>
        </p:spPr>
        <p:txBody>
          <a:bodyPr wrap="square"/>
          <a:lstStyle/>
          <a:p>
            <a:pPr algn="l"/>
            <a:r>
              <a:rPr sz="2000" b="1">
                <a:solidFill>
                  <a:srgbClr val="262626"/>
                </a:solidFill>
                <a:latin typeface="Noto Sans"/>
              </a:rPr>
              <a:t>「会議音声→調査設計→配信→レポート」の完全自動化フローについて両社の方向性が合致。4月頭のPoC設計MTGへ移行することを合意</a:t>
            </a:r>
          </a:p>
        </p:txBody>
      </p:sp>
      <p:sp>
        <p:nvSpPr>
          <p:cNvPr id="5" name="Rectangle 4"/>
          <p:cNvSpPr/>
          <p:nvPr/>
        </p:nvSpPr>
        <p:spPr>
          <a:xfrm>
            <a:off x="548640" y="1897380"/>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061972"/>
            <a:ext cx="5134356" cy="347472"/>
          </a:xfrm>
          <a:prstGeom prst="rect">
            <a:avLst/>
          </a:prstGeom>
          <a:noFill/>
        </p:spPr>
        <p:txBody>
          <a:bodyPr wrap="square"/>
          <a:lstStyle/>
          <a:p>
            <a:pPr algn="l"/>
            <a:r>
              <a:rPr sz="1800" b="1">
                <a:solidFill>
                  <a:srgbClr val="2180FF"/>
                </a:solidFill>
                <a:latin typeface="Noto Sans"/>
              </a:rPr>
              <a:t>①ビジネスモデル転換の認識共有</a:t>
            </a:r>
          </a:p>
        </p:txBody>
      </p:sp>
      <p:sp>
        <p:nvSpPr>
          <p:cNvPr id="7" name="TextBox 6"/>
          <p:cNvSpPr txBox="1"/>
          <p:nvPr/>
        </p:nvSpPr>
        <p:spPr>
          <a:xfrm>
            <a:off x="713232" y="2446020"/>
            <a:ext cx="5134356" cy="723900"/>
          </a:xfrm>
          <a:prstGeom prst="rect">
            <a:avLst/>
          </a:prstGeom>
          <a:noFill/>
        </p:spPr>
        <p:txBody>
          <a:bodyPr wrap="square"/>
          <a:lstStyle/>
          <a:p>
            <a:pPr algn="l"/>
            <a:r>
              <a:rPr sz="1200" b="0">
                <a:solidFill>
                  <a:srgbClr val="262626"/>
                </a:solidFill>
                <a:latin typeface="Noto Sans"/>
              </a:rPr>
              <a:t>CMGの受託アドホック調査はAI・XMプラットフォームの台頭でシュリンク局面。社内検証で「10年リサーチャーと同水準の調査設計をAIが実現」を確認済み。受託収益への依存を下げSaaSプラットフォームへ転換することが急務という認識を双方で確認した。</a:t>
            </a:r>
          </a:p>
        </p:txBody>
      </p:sp>
      <p:sp>
        <p:nvSpPr>
          <p:cNvPr id="8" name="Rectangle 7"/>
          <p:cNvSpPr/>
          <p:nvPr/>
        </p:nvSpPr>
        <p:spPr>
          <a:xfrm>
            <a:off x="6176772" y="1897380"/>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1364" y="2061972"/>
            <a:ext cx="5134356" cy="347472"/>
          </a:xfrm>
          <a:prstGeom prst="rect">
            <a:avLst/>
          </a:prstGeom>
          <a:noFill/>
        </p:spPr>
        <p:txBody>
          <a:bodyPr wrap="square"/>
          <a:lstStyle/>
          <a:p>
            <a:pPr algn="l"/>
            <a:r>
              <a:rPr sz="1800" b="1">
                <a:solidFill>
                  <a:srgbClr val="2180FF"/>
                </a:solidFill>
                <a:latin typeface="Noto Sans"/>
              </a:rPr>
              <a:t>②協業スコープの絞り込み</a:t>
            </a:r>
          </a:p>
        </p:txBody>
      </p:sp>
      <p:sp>
        <p:nvSpPr>
          <p:cNvPr id="10" name="TextBox 9"/>
          <p:cNvSpPr txBox="1"/>
          <p:nvPr/>
        </p:nvSpPr>
        <p:spPr>
          <a:xfrm>
            <a:off x="6341364" y="2446020"/>
            <a:ext cx="5134356" cy="723900"/>
          </a:xfrm>
          <a:prstGeom prst="rect">
            <a:avLst/>
          </a:prstGeom>
          <a:noFill/>
        </p:spPr>
        <p:txBody>
          <a:bodyPr wrap="square"/>
          <a:lstStyle/>
          <a:p>
            <a:pPr algn="l"/>
            <a:r>
              <a:rPr sz="1200" b="0">
                <a:solidFill>
                  <a:srgbClr val="262626"/>
                </a:solidFill>
                <a:latin typeface="Noto Sans"/>
              </a:rPr>
              <a:t>当初提案の「グループ30社横断プラットフォーム」から、まず「会議音声→Notta構造化→CMG調査設計AI→秋雲配信」のミニマムフロー検証にスコープを絞ることを合意。現状7ステップの調査プロセスを「設計承認」「結果確認」の2ステップに圧縮するシナリオを設計方針とする。</a:t>
            </a:r>
          </a:p>
        </p:txBody>
      </p:sp>
      <p:sp>
        <p:nvSpPr>
          <p:cNvPr id="11" name="Rectangle 10"/>
          <p:cNvSpPr/>
          <p:nvPr/>
        </p:nvSpPr>
        <p:spPr>
          <a:xfrm>
            <a:off x="548640" y="3499104"/>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663696"/>
            <a:ext cx="5134356" cy="347472"/>
          </a:xfrm>
          <a:prstGeom prst="rect">
            <a:avLst/>
          </a:prstGeom>
          <a:noFill/>
        </p:spPr>
        <p:txBody>
          <a:bodyPr wrap="square"/>
          <a:lstStyle/>
          <a:p>
            <a:pPr algn="l"/>
            <a:r>
              <a:rPr sz="1800" b="1">
                <a:solidFill>
                  <a:srgbClr val="2180FF"/>
                </a:solidFill>
                <a:latin typeface="Noto Sans"/>
              </a:rPr>
              <a:t>③ユーザーセグメントの解像度向上</a:t>
            </a:r>
          </a:p>
        </p:txBody>
      </p:sp>
      <p:sp>
        <p:nvSpPr>
          <p:cNvPr id="13" name="TextBox 12"/>
          <p:cNvSpPr txBox="1"/>
          <p:nvPr/>
        </p:nvSpPr>
        <p:spPr>
          <a:xfrm>
            <a:off x="713232" y="4047744"/>
            <a:ext cx="5134356" cy="723900"/>
          </a:xfrm>
          <a:prstGeom prst="rect">
            <a:avLst/>
          </a:prstGeom>
          <a:noFill/>
        </p:spPr>
        <p:txBody>
          <a:bodyPr wrap="square"/>
          <a:lstStyle/>
          <a:p>
            <a:pPr algn="l"/>
            <a:r>
              <a:rPr sz="1200" b="0">
                <a:solidFill>
                  <a:srgbClr val="262626"/>
                </a:solidFill>
                <a:latin typeface="Noto Sans"/>
              </a:rPr>
              <a:t>CMGユーザーの85%は「目的・背景・経緯を入力するだけで調査設計が自動完成」を求めるノンリサーチャー層（事業会社マーケター・新規事業担当）。残り15%はリサーチャー・上級ユーザーでプロンプトカスタマイズ＋仮説検証フローが必要。2レイヤーの提供方式で対応する。</a:t>
            </a:r>
          </a:p>
        </p:txBody>
      </p:sp>
      <p:sp>
        <p:nvSpPr>
          <p:cNvPr id="14" name="Rectangle 13"/>
          <p:cNvSpPr/>
          <p:nvPr/>
        </p:nvSpPr>
        <p:spPr>
          <a:xfrm>
            <a:off x="6176772" y="3499104"/>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1364" y="3663696"/>
            <a:ext cx="5134356" cy="347472"/>
          </a:xfrm>
          <a:prstGeom prst="rect">
            <a:avLst/>
          </a:prstGeom>
          <a:noFill/>
        </p:spPr>
        <p:txBody>
          <a:bodyPr wrap="square"/>
          <a:lstStyle/>
          <a:p>
            <a:pPr algn="l"/>
            <a:r>
              <a:rPr sz="1800" b="1">
                <a:solidFill>
                  <a:srgbClr val="2180FF"/>
                </a:solidFill>
                <a:latin typeface="Noto Sans"/>
              </a:rPr>
              <a:t>④インターフェース・技術方針の決定</a:t>
            </a:r>
          </a:p>
        </p:txBody>
      </p:sp>
      <p:sp>
        <p:nvSpPr>
          <p:cNvPr id="16" name="TextBox 15"/>
          <p:cNvSpPr txBox="1"/>
          <p:nvPr/>
        </p:nvSpPr>
        <p:spPr>
          <a:xfrm>
            <a:off x="6341364" y="4047744"/>
            <a:ext cx="5134356" cy="723900"/>
          </a:xfrm>
          <a:prstGeom prst="rect">
            <a:avLst/>
          </a:prstGeom>
          <a:noFill/>
        </p:spPr>
        <p:txBody>
          <a:bodyPr wrap="square"/>
          <a:lstStyle/>
          <a:p>
            <a:pPr algn="l"/>
            <a:r>
              <a:rPr sz="1200" b="0">
                <a:solidFill>
                  <a:srgbClr val="262626"/>
                </a:solidFill>
                <a:latin typeface="Noto Sans"/>
              </a:rPr>
              <a:t>クライアントはNottaのUI/UXをそのまま使用（後者モデル）。CMGは独自UI開発コストを持たず、Notta APIでデータを受け取り後工程を自律稼働させるAPI連携型を採用。ハードウェア（Meeting Owl等）は情報管理コストの観点から対象外とし、ソフトウェアのみで完結させる方針に合意した。</a:t>
            </a:r>
          </a:p>
        </p:txBody>
      </p:sp>
      <p:sp>
        <p:nvSpPr>
          <p:cNvPr id="17" name="Rectangle 16"/>
          <p:cNvSpPr/>
          <p:nvPr/>
        </p:nvSpPr>
        <p:spPr>
          <a:xfrm>
            <a:off x="548640" y="5100828"/>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5265420"/>
            <a:ext cx="5134356" cy="347472"/>
          </a:xfrm>
          <a:prstGeom prst="rect">
            <a:avLst/>
          </a:prstGeom>
          <a:noFill/>
        </p:spPr>
        <p:txBody>
          <a:bodyPr wrap="square"/>
          <a:lstStyle/>
          <a:p>
            <a:pPr algn="l"/>
            <a:r>
              <a:rPr sz="1800" b="1">
                <a:solidFill>
                  <a:srgbClr val="2180FF"/>
                </a:solidFill>
                <a:latin typeface="Noto Sans"/>
              </a:rPr>
              <a:t>⑤CMGの2プロダクト体制を確認</a:t>
            </a:r>
          </a:p>
        </p:txBody>
      </p:sp>
      <p:sp>
        <p:nvSpPr>
          <p:cNvPr id="19" name="TextBox 18"/>
          <p:cNvSpPr txBox="1"/>
          <p:nvPr/>
        </p:nvSpPr>
        <p:spPr>
          <a:xfrm>
            <a:off x="713232" y="5649468"/>
            <a:ext cx="5134356" cy="723900"/>
          </a:xfrm>
          <a:prstGeom prst="rect">
            <a:avLst/>
          </a:prstGeom>
          <a:noFill/>
        </p:spPr>
        <p:txBody>
          <a:bodyPr wrap="square"/>
          <a:lstStyle/>
          <a:p>
            <a:pPr algn="l"/>
            <a:r>
              <a:rPr sz="1200" b="0">
                <a:solidFill>
                  <a:srgbClr val="262626"/>
                </a:solidFill>
                <a:latin typeface="Noto Sans"/>
              </a:rPr>
              <a:t>「秋雲（マーケター向けセルフアンケートツール）」と「リサーチャー専用システム（プロトタイプ完成済み）」の2プロダクトが連携対象。さらに顧客ポータル（受注管理・レポート納品・請求）とのデータ統合がプラットフォーム構想の中核を担う。Notta音声データはこの3レイヤーを横断するインプットとなる。</a:t>
            </a:r>
          </a:p>
        </p:txBody>
      </p:sp>
      <p:sp>
        <p:nvSpPr>
          <p:cNvPr id="20" name="Rectangle 19"/>
          <p:cNvSpPr/>
          <p:nvPr/>
        </p:nvSpPr>
        <p:spPr>
          <a:xfrm>
            <a:off x="6176772" y="5100828"/>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1364" y="5265420"/>
            <a:ext cx="5134356" cy="347472"/>
          </a:xfrm>
          <a:prstGeom prst="rect">
            <a:avLst/>
          </a:prstGeom>
          <a:noFill/>
        </p:spPr>
        <p:txBody>
          <a:bodyPr wrap="square"/>
          <a:lstStyle/>
          <a:p>
            <a:pPr algn="l"/>
            <a:r>
              <a:rPr sz="1800" b="1">
                <a:solidFill>
                  <a:srgbClr val="2180FF"/>
                </a:solidFill>
                <a:latin typeface="Noto Sans"/>
              </a:rPr>
              <a:t>⑥PoC方針・次回MTGの合意</a:t>
            </a:r>
          </a:p>
        </p:txBody>
      </p:sp>
      <p:sp>
        <p:nvSpPr>
          <p:cNvPr id="22" name="TextBox 21"/>
          <p:cNvSpPr txBox="1"/>
          <p:nvPr/>
        </p:nvSpPr>
        <p:spPr>
          <a:xfrm>
            <a:off x="6341364" y="5649468"/>
            <a:ext cx="5134356" cy="723900"/>
          </a:xfrm>
          <a:prstGeom prst="rect">
            <a:avLst/>
          </a:prstGeom>
          <a:noFill/>
        </p:spPr>
        <p:txBody>
          <a:bodyPr wrap="square"/>
          <a:lstStyle/>
          <a:p>
            <a:pPr algn="l"/>
            <a:r>
              <a:rPr sz="1200" b="0">
                <a:solidFill>
                  <a:srgbClr val="262626"/>
                </a:solidFill>
                <a:latin typeface="Noto Sans"/>
              </a:rPr>
              <a:t>「失敗しても数百万円で収まる」規模のスモールスタートでフロー技術検証を実施することを確認。4月第1週に両社プロダクトデモ＋要件整理MTGを設定。技術担当者レベルでのAPI仕様・データスキーマの詳細確認を並行実施し、予算感・開発分担も次回で合意す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1672" cy="411480"/>
          </a:xfrm>
          <a:prstGeom prst="rect">
            <a:avLst/>
          </a:prstGeom>
          <a:noFill/>
        </p:spPr>
        <p:txBody>
          <a:bodyPr wrap="square"/>
          <a:lstStyle/>
          <a:p>
            <a:pPr algn="l"/>
            <a:r>
              <a:rPr sz="1600" b="0">
                <a:solidFill>
                  <a:srgbClr val="2180FF"/>
                </a:solidFill>
                <a:latin typeface="Noto Sans"/>
              </a:rPr>
              <a:t>協業で実現する「音声起点リサーチ自動化フロー」</a:t>
            </a:r>
          </a:p>
        </p:txBody>
      </p:sp>
      <p:sp>
        <p:nvSpPr>
          <p:cNvPr id="3" name="Rectangle 2"/>
          <p:cNvSpPr/>
          <p:nvPr/>
        </p:nvSpPr>
        <p:spPr>
          <a:xfrm>
            <a:off x="548640" y="841248"/>
            <a:ext cx="11091672" cy="13716"/>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82980"/>
            <a:ext cx="11091672" cy="685800"/>
          </a:xfrm>
          <a:prstGeom prst="rect">
            <a:avLst/>
          </a:prstGeom>
          <a:noFill/>
        </p:spPr>
        <p:txBody>
          <a:bodyPr wrap="square"/>
          <a:lstStyle/>
          <a:p>
            <a:pPr algn="l"/>
            <a:r>
              <a:rPr sz="2000" b="1">
                <a:solidFill>
                  <a:srgbClr val="262626"/>
                </a:solidFill>
                <a:latin typeface="Noto Sans"/>
              </a:rPr>
              <a:t>クライアントの会議が終わった瞬間に調査設計が完成している世界。Notta × CMGのバリューチェーン統合で業界初のEnd-to-Endリサーチ自動化を実現する</a:t>
            </a:r>
          </a:p>
        </p:txBody>
      </p:sp>
      <p:sp>
        <p:nvSpPr>
          <p:cNvPr id="5" name="Rectangle 4"/>
          <p:cNvSpPr/>
          <p:nvPr/>
        </p:nvSpPr>
        <p:spPr>
          <a:xfrm>
            <a:off x="548640" y="1897380"/>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061972"/>
            <a:ext cx="5134356" cy="347472"/>
          </a:xfrm>
          <a:prstGeom prst="rect">
            <a:avLst/>
          </a:prstGeom>
          <a:noFill/>
        </p:spPr>
        <p:txBody>
          <a:bodyPr wrap="square"/>
          <a:lstStyle/>
          <a:p>
            <a:pPr algn="l"/>
            <a:r>
              <a:rPr sz="1800" b="1">
                <a:solidFill>
                  <a:srgbClr val="2180FF"/>
                </a:solidFill>
                <a:latin typeface="Noto Sans"/>
              </a:rPr>
              <a:t>STEP 0｜クライアント会議データの取得</a:t>
            </a:r>
          </a:p>
        </p:txBody>
      </p:sp>
      <p:sp>
        <p:nvSpPr>
          <p:cNvPr id="7" name="TextBox 6"/>
          <p:cNvSpPr txBox="1"/>
          <p:nvPr/>
        </p:nvSpPr>
        <p:spPr>
          <a:xfrm>
            <a:off x="713232" y="2446020"/>
            <a:ext cx="5134356" cy="723900"/>
          </a:xfrm>
          <a:prstGeom prst="rect">
            <a:avLst/>
          </a:prstGeom>
          <a:noFill/>
        </p:spPr>
        <p:txBody>
          <a:bodyPr wrap="square"/>
          <a:lstStyle/>
          <a:p>
            <a:pPr algn="l"/>
            <a:r>
              <a:rPr sz="1200" b="0">
                <a:solidFill>
                  <a:srgbClr val="262626"/>
                </a:solidFill>
                <a:latin typeface="Noto Sans"/>
              </a:rPr>
              <a:t>商品企画会議・新規事業ブリーフィング・クライアントとのキックオフMTGをNottaで録音。Google Meet / Zoom / Teams とのネイティブ連携により既存インフラを変更不要で活用。話者自動分離（Diarization）で「誰が何を言ったか」をラベル付き構造化データとして保持。</a:t>
            </a:r>
          </a:p>
        </p:txBody>
      </p:sp>
      <p:sp>
        <p:nvSpPr>
          <p:cNvPr id="8" name="Rectangle 7"/>
          <p:cNvSpPr/>
          <p:nvPr/>
        </p:nvSpPr>
        <p:spPr>
          <a:xfrm>
            <a:off x="6176772" y="1897380"/>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1364" y="2061972"/>
            <a:ext cx="5134356" cy="347472"/>
          </a:xfrm>
          <a:prstGeom prst="rect">
            <a:avLst/>
          </a:prstGeom>
          <a:noFill/>
        </p:spPr>
        <p:txBody>
          <a:bodyPr wrap="square"/>
          <a:lstStyle/>
          <a:p>
            <a:pPr algn="l"/>
            <a:r>
              <a:rPr sz="1800" b="1">
                <a:solidFill>
                  <a:srgbClr val="2180FF"/>
                </a:solidFill>
                <a:latin typeface="Noto Sans"/>
              </a:rPr>
              <a:t>STEP 1｜高精度日本語ASR＋Brain構造化（Notta）</a:t>
            </a:r>
          </a:p>
        </p:txBody>
      </p:sp>
      <p:sp>
        <p:nvSpPr>
          <p:cNvPr id="10" name="TextBox 9"/>
          <p:cNvSpPr txBox="1"/>
          <p:nvPr/>
        </p:nvSpPr>
        <p:spPr>
          <a:xfrm>
            <a:off x="6341364" y="2446020"/>
            <a:ext cx="5134356" cy="723900"/>
          </a:xfrm>
          <a:prstGeom prst="rect">
            <a:avLst/>
          </a:prstGeom>
          <a:noFill/>
        </p:spPr>
        <p:txBody>
          <a:bodyPr wrap="square"/>
          <a:lstStyle/>
          <a:p>
            <a:pPr algn="l"/>
            <a:r>
              <a:rPr sz="1200" b="0">
                <a:solidFill>
                  <a:srgbClr val="262626"/>
                </a:solidFill>
                <a:latin typeface="Noto Sans"/>
              </a:rPr>
              <a:t>日本語特化ASRで文字起こし精度WER 5%以下を確保。Notta Brainが会議テキストから「調査目的・課題仮説・論点・アクション」をJSON形式で自動抽出。CMGリサーチャー設計のプロンプトテンプレートを組み込み、アウトプットをリサーチ文脈に最適化する。過去調査データのRAG参照で業界固有の文脈も補完。</a:t>
            </a:r>
          </a:p>
        </p:txBody>
      </p:sp>
      <p:sp>
        <p:nvSpPr>
          <p:cNvPr id="11" name="Rectangle 10"/>
          <p:cNvSpPr/>
          <p:nvPr/>
        </p:nvSpPr>
        <p:spPr>
          <a:xfrm>
            <a:off x="548640" y="3499104"/>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663696"/>
            <a:ext cx="5134356" cy="347472"/>
          </a:xfrm>
          <a:prstGeom prst="rect">
            <a:avLst/>
          </a:prstGeom>
          <a:noFill/>
        </p:spPr>
        <p:txBody>
          <a:bodyPr wrap="square"/>
          <a:lstStyle/>
          <a:p>
            <a:pPr algn="l"/>
            <a:r>
              <a:rPr sz="1800" b="1">
                <a:solidFill>
                  <a:srgbClr val="2180FF"/>
                </a:solidFill>
                <a:latin typeface="Noto Sans"/>
              </a:rPr>
              <a:t>STEP 2｜JSONデータをCMG調査設計AIへ受け渡し</a:t>
            </a:r>
          </a:p>
        </p:txBody>
      </p:sp>
      <p:sp>
        <p:nvSpPr>
          <p:cNvPr id="13" name="TextBox 12"/>
          <p:cNvSpPr txBox="1"/>
          <p:nvPr/>
        </p:nvSpPr>
        <p:spPr>
          <a:xfrm>
            <a:off x="713232" y="4047744"/>
            <a:ext cx="5134356" cy="723900"/>
          </a:xfrm>
          <a:prstGeom prst="rect">
            <a:avLst/>
          </a:prstGeom>
          <a:noFill/>
        </p:spPr>
        <p:txBody>
          <a:bodyPr wrap="square"/>
          <a:lstStyle/>
          <a:p>
            <a:pPr algn="l"/>
            <a:r>
              <a:rPr sz="1200" b="0">
                <a:solidFill>
                  <a:srgbClr val="262626"/>
                </a:solidFill>
                <a:latin typeface="Noto Sans"/>
              </a:rPr>
              <a:t>NottaがAPI Webhookで構造化JSONをCMG調査設計AIにリアルタイム送信。フィールドマッピング：会議目的→調査目的、仮説→設問軸、論点→選択肢候補。CMGが保有する数万件の過去調査データをベクターDBに格納したRAGシステムで類似調査のベストプラクティスを参照し設問品質を担保する。</a:t>
            </a:r>
          </a:p>
        </p:txBody>
      </p:sp>
      <p:sp>
        <p:nvSpPr>
          <p:cNvPr id="14" name="Rectangle 13"/>
          <p:cNvSpPr/>
          <p:nvPr/>
        </p:nvSpPr>
        <p:spPr>
          <a:xfrm>
            <a:off x="6176772" y="3499104"/>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1364" y="3663696"/>
            <a:ext cx="5134356" cy="347472"/>
          </a:xfrm>
          <a:prstGeom prst="rect">
            <a:avLst/>
          </a:prstGeom>
          <a:noFill/>
        </p:spPr>
        <p:txBody>
          <a:bodyPr wrap="square"/>
          <a:lstStyle/>
          <a:p>
            <a:pPr algn="l"/>
            <a:r>
              <a:rPr sz="1800" b="1">
                <a:solidFill>
                  <a:srgbClr val="2180FF"/>
                </a:solidFill>
                <a:latin typeface="Noto Sans"/>
              </a:rPr>
              <a:t>STEP 3｜調査設計の自動生成と人間承認（CMG AI）</a:t>
            </a:r>
          </a:p>
        </p:txBody>
      </p:sp>
      <p:sp>
        <p:nvSpPr>
          <p:cNvPr id="16" name="TextBox 15"/>
          <p:cNvSpPr txBox="1"/>
          <p:nvPr/>
        </p:nvSpPr>
        <p:spPr>
          <a:xfrm>
            <a:off x="6341364" y="4047744"/>
            <a:ext cx="5134356" cy="723900"/>
          </a:xfrm>
          <a:prstGeom prst="rect">
            <a:avLst/>
          </a:prstGeom>
          <a:noFill/>
        </p:spPr>
        <p:txBody>
          <a:bodyPr wrap="square"/>
          <a:lstStyle/>
          <a:p>
            <a:pPr algn="l"/>
            <a:r>
              <a:rPr sz="1200" b="0">
                <a:solidFill>
                  <a:srgbClr val="262626"/>
                </a:solidFill>
                <a:latin typeface="Noto Sans"/>
              </a:rPr>
              <a:t>調査手法選定（Webアンケート／会場型／IDI等）→設問文生成→選択肢・スクリーナー・分岐ロジック設定→サンプル条件定義まで全自動実行。生成AIが「85%層向け：全自動モード」と「15%層向け：仮説ドリブン提案モード」を自動判定して出力形式を切り替える。人間の関与は「承認 or 修正」の2択のみ。</a:t>
            </a:r>
          </a:p>
        </p:txBody>
      </p:sp>
      <p:sp>
        <p:nvSpPr>
          <p:cNvPr id="17" name="Rectangle 16"/>
          <p:cNvSpPr/>
          <p:nvPr/>
        </p:nvSpPr>
        <p:spPr>
          <a:xfrm>
            <a:off x="548640" y="5100828"/>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5265420"/>
            <a:ext cx="5134356" cy="347472"/>
          </a:xfrm>
          <a:prstGeom prst="rect">
            <a:avLst/>
          </a:prstGeom>
          <a:noFill/>
        </p:spPr>
        <p:txBody>
          <a:bodyPr wrap="square"/>
          <a:lstStyle/>
          <a:p>
            <a:pPr algn="l"/>
            <a:r>
              <a:rPr sz="1800" b="1">
                <a:solidFill>
                  <a:srgbClr val="2180FF"/>
                </a:solidFill>
                <a:latin typeface="Noto Sans"/>
              </a:rPr>
              <a:t>STEP 4｜アンケート配信・回収（CMG「秋雲」）</a:t>
            </a:r>
          </a:p>
        </p:txBody>
      </p:sp>
      <p:sp>
        <p:nvSpPr>
          <p:cNvPr id="19" name="TextBox 18"/>
          <p:cNvSpPr txBox="1"/>
          <p:nvPr/>
        </p:nvSpPr>
        <p:spPr>
          <a:xfrm>
            <a:off x="713232" y="5649468"/>
            <a:ext cx="5134356" cy="723900"/>
          </a:xfrm>
          <a:prstGeom prst="rect">
            <a:avLst/>
          </a:prstGeom>
          <a:noFill/>
        </p:spPr>
        <p:txBody>
          <a:bodyPr wrap="square"/>
          <a:lstStyle/>
          <a:p>
            <a:pPr algn="l"/>
            <a:r>
              <a:rPr sz="1200" b="0">
                <a:solidFill>
                  <a:srgbClr val="262626"/>
                </a:solidFill>
                <a:latin typeface="Noto Sans"/>
              </a:rPr>
              <a:t>承認済み調査設計を秋雲へ自動流し込み（APIインジェスト）。MAと連携してターゲットセグメントへ配信。N数管理・回収率リアルタイムモニタリング・不完全回答の自動除外・クォータ管理をシステムが自律稼働。会場型の場合はQRコード発行→タブレット入力→即時回収フローに切り替え。</a:t>
            </a:r>
          </a:p>
        </p:txBody>
      </p:sp>
      <p:sp>
        <p:nvSpPr>
          <p:cNvPr id="20" name="Rectangle 19"/>
          <p:cNvSpPr/>
          <p:nvPr/>
        </p:nvSpPr>
        <p:spPr>
          <a:xfrm>
            <a:off x="6176772" y="5100828"/>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1364" y="5265420"/>
            <a:ext cx="5134356" cy="347472"/>
          </a:xfrm>
          <a:prstGeom prst="rect">
            <a:avLst/>
          </a:prstGeom>
          <a:noFill/>
        </p:spPr>
        <p:txBody>
          <a:bodyPr wrap="square"/>
          <a:lstStyle/>
          <a:p>
            <a:pPr algn="l"/>
            <a:r>
              <a:rPr sz="1800" b="1">
                <a:solidFill>
                  <a:srgbClr val="2180FF"/>
                </a:solidFill>
                <a:latin typeface="Noto Sans"/>
              </a:rPr>
              <a:t>STEP 5｜LLMレポート生成→顧客ポータル納品</a:t>
            </a:r>
          </a:p>
        </p:txBody>
      </p:sp>
      <p:sp>
        <p:nvSpPr>
          <p:cNvPr id="22" name="TextBox 21"/>
          <p:cNvSpPr txBox="1"/>
          <p:nvPr/>
        </p:nvSpPr>
        <p:spPr>
          <a:xfrm>
            <a:off x="6341364" y="5649468"/>
            <a:ext cx="5134356" cy="723900"/>
          </a:xfrm>
          <a:prstGeom prst="rect">
            <a:avLst/>
          </a:prstGeom>
          <a:noFill/>
        </p:spPr>
        <p:txBody>
          <a:bodyPr wrap="square"/>
          <a:lstStyle/>
          <a:p>
            <a:pPr algn="l"/>
            <a:r>
              <a:rPr sz="1200" b="0">
                <a:solidFill>
                  <a:srgbClr val="262626"/>
                </a:solidFill>
                <a:latin typeface="Noto Sans"/>
              </a:rPr>
              <a:t>回収データからLLMがレポートのたたき台（示唆・インサイト・推奨アクション・クロス集計）を生成。CMGリサーチャーが品質確認後、顧客ポータルへアップロード。クライアントはポータルで確認・承認→請求管理へ自動連携。「会議終了→レポート確認」まで最短1〜2営業日を目指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1672" cy="411480"/>
          </a:xfrm>
          <a:prstGeom prst="rect">
            <a:avLst/>
          </a:prstGeom>
          <a:noFill/>
        </p:spPr>
        <p:txBody>
          <a:bodyPr wrap="square"/>
          <a:lstStyle/>
          <a:p>
            <a:pPr algn="l"/>
            <a:r>
              <a:rPr sz="1600" b="0">
                <a:solidFill>
                  <a:srgbClr val="2180FF"/>
                </a:solidFill>
                <a:latin typeface="Noto Sans"/>
              </a:rPr>
              <a:t>技術連携方針：アーキテクチャ・セキュリティ・開発分担</a:t>
            </a:r>
          </a:p>
        </p:txBody>
      </p:sp>
      <p:sp>
        <p:nvSpPr>
          <p:cNvPr id="3" name="Rectangle 2"/>
          <p:cNvSpPr/>
          <p:nvPr/>
        </p:nvSpPr>
        <p:spPr>
          <a:xfrm>
            <a:off x="548640" y="841248"/>
            <a:ext cx="11091672" cy="13716"/>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82980"/>
            <a:ext cx="11091672" cy="685800"/>
          </a:xfrm>
          <a:prstGeom prst="rect">
            <a:avLst/>
          </a:prstGeom>
          <a:noFill/>
        </p:spPr>
        <p:txBody>
          <a:bodyPr wrap="square"/>
          <a:lstStyle/>
          <a:p>
            <a:pPr algn="l"/>
            <a:r>
              <a:rPr sz="2000" b="1">
                <a:solidFill>
                  <a:srgbClr val="262626"/>
                </a:solidFill>
                <a:latin typeface="Noto Sans"/>
              </a:rPr>
              <a:t>CMG側のエンジニアリソースを最小化しつつ、エンタープライズ水準のセキュリティと拡張性を両立するAPI連携アーキテクチャを採用する</a:t>
            </a:r>
          </a:p>
        </p:txBody>
      </p:sp>
      <p:sp>
        <p:nvSpPr>
          <p:cNvPr id="5" name="Rectangle 4"/>
          <p:cNvSpPr/>
          <p:nvPr/>
        </p:nvSpPr>
        <p:spPr>
          <a:xfrm>
            <a:off x="548640" y="1897380"/>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061972"/>
            <a:ext cx="5134356" cy="347472"/>
          </a:xfrm>
          <a:prstGeom prst="rect">
            <a:avLst/>
          </a:prstGeom>
          <a:noFill/>
        </p:spPr>
        <p:txBody>
          <a:bodyPr wrap="square"/>
          <a:lstStyle/>
          <a:p>
            <a:pPr algn="l"/>
            <a:r>
              <a:rPr sz="1800" b="1">
                <a:solidFill>
                  <a:srgbClr val="2180FF"/>
                </a:solidFill>
                <a:latin typeface="Noto Sans"/>
              </a:rPr>
              <a:t>連携方式：Notta API Webhook ＋ JSON</a:t>
            </a:r>
          </a:p>
        </p:txBody>
      </p:sp>
      <p:sp>
        <p:nvSpPr>
          <p:cNvPr id="7" name="TextBox 6"/>
          <p:cNvSpPr txBox="1"/>
          <p:nvPr/>
        </p:nvSpPr>
        <p:spPr>
          <a:xfrm>
            <a:off x="713232" y="2446020"/>
            <a:ext cx="5134356" cy="723900"/>
          </a:xfrm>
          <a:prstGeom prst="rect">
            <a:avLst/>
          </a:prstGeom>
          <a:noFill/>
        </p:spPr>
        <p:txBody>
          <a:bodyPr wrap="square"/>
          <a:lstStyle/>
          <a:p>
            <a:pPr algn="l"/>
            <a:r>
              <a:rPr sz="1200" b="0">
                <a:solidFill>
                  <a:srgbClr val="262626"/>
                </a:solidFill>
                <a:latin typeface="Noto Sans"/>
              </a:rPr>
              <a:t>NottaはWebhookエンドポイントを公開し、会議終了トリガーで構造化JSONをCMGへPUSH配信。JSONスキーマ例：{meeting_id, objectives[], hypotheses[], key_topics[], participants[], action_items[], raw_transcript}。リアルタイム処理（会議中ストリーミング）とバッチ処理（終了後一括）の両モードをサポートし、用途に応じて切り替え可能。</a:t>
            </a:r>
          </a:p>
        </p:txBody>
      </p:sp>
      <p:sp>
        <p:nvSpPr>
          <p:cNvPr id="8" name="Rectangle 7"/>
          <p:cNvSpPr/>
          <p:nvPr/>
        </p:nvSpPr>
        <p:spPr>
          <a:xfrm>
            <a:off x="6176772" y="1897380"/>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1364" y="2061972"/>
            <a:ext cx="5134356" cy="347472"/>
          </a:xfrm>
          <a:prstGeom prst="rect">
            <a:avLst/>
          </a:prstGeom>
          <a:noFill/>
        </p:spPr>
        <p:txBody>
          <a:bodyPr wrap="square"/>
          <a:lstStyle/>
          <a:p>
            <a:pPr algn="l"/>
            <a:r>
              <a:rPr sz="1800" b="1">
                <a:solidFill>
                  <a:srgbClr val="2180FF"/>
                </a:solidFill>
                <a:latin typeface="Noto Sans"/>
              </a:rPr>
              <a:t>CMG側システム構成：3レイヤー統合</a:t>
            </a:r>
          </a:p>
        </p:txBody>
      </p:sp>
      <p:sp>
        <p:nvSpPr>
          <p:cNvPr id="10" name="TextBox 9"/>
          <p:cNvSpPr txBox="1"/>
          <p:nvPr/>
        </p:nvSpPr>
        <p:spPr>
          <a:xfrm>
            <a:off x="6341364" y="2446020"/>
            <a:ext cx="5134356" cy="723900"/>
          </a:xfrm>
          <a:prstGeom prst="rect">
            <a:avLst/>
          </a:prstGeom>
          <a:noFill/>
        </p:spPr>
        <p:txBody>
          <a:bodyPr wrap="square"/>
          <a:lstStyle/>
          <a:p>
            <a:pPr algn="l"/>
            <a:r>
              <a:rPr sz="1200" b="0">
                <a:solidFill>
                  <a:srgbClr val="262626"/>
                </a:solidFill>
                <a:latin typeface="Noto Sans"/>
              </a:rPr>
              <a:t>【L1: データ受信】Notta APIから構造化JSONを受信し調査設計AIに渡すアダプター層。【L2: 業務処理】調査設計AI・秋雲・リサーチャーシステムが協調動作するオーケストレーション層。【L3: 顧客接点】受注管理・レポート納品・請求管理を提供する顧客ポータル。Notta音声データはL1に流入し3レイヤーを横断して最終的に顧客へ届く。</a:t>
            </a:r>
          </a:p>
        </p:txBody>
      </p:sp>
      <p:sp>
        <p:nvSpPr>
          <p:cNvPr id="11" name="Rectangle 10"/>
          <p:cNvSpPr/>
          <p:nvPr/>
        </p:nvSpPr>
        <p:spPr>
          <a:xfrm>
            <a:off x="548640" y="3499104"/>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663696"/>
            <a:ext cx="5134356" cy="347472"/>
          </a:xfrm>
          <a:prstGeom prst="rect">
            <a:avLst/>
          </a:prstGeom>
          <a:noFill/>
        </p:spPr>
        <p:txBody>
          <a:bodyPr wrap="square"/>
          <a:lstStyle/>
          <a:p>
            <a:pPr algn="l"/>
            <a:r>
              <a:rPr sz="1800" b="1">
                <a:solidFill>
                  <a:srgbClr val="2180FF"/>
                </a:solidFill>
                <a:latin typeface="Noto Sans"/>
              </a:rPr>
              <a:t>品質担保：RAG＋プロンプトテンプレート</a:t>
            </a:r>
          </a:p>
        </p:txBody>
      </p:sp>
      <p:sp>
        <p:nvSpPr>
          <p:cNvPr id="13" name="TextBox 12"/>
          <p:cNvSpPr txBox="1"/>
          <p:nvPr/>
        </p:nvSpPr>
        <p:spPr>
          <a:xfrm>
            <a:off x="713232" y="4047744"/>
            <a:ext cx="5134356" cy="723900"/>
          </a:xfrm>
          <a:prstGeom prst="rect">
            <a:avLst/>
          </a:prstGeom>
          <a:noFill/>
        </p:spPr>
        <p:txBody>
          <a:bodyPr wrap="square"/>
          <a:lstStyle/>
          <a:p>
            <a:pPr algn="l"/>
            <a:r>
              <a:rPr sz="1200" b="0">
                <a:solidFill>
                  <a:srgbClr val="262626"/>
                </a:solidFill>
                <a:latin typeface="Noto Sans"/>
              </a:rPr>
              <a:t>CMGが保有する過去調査テキスト（設計書・設問票・レポート群）をEmbeddingしてベクターDBに格納。新規会議JSONに対して類似案件を検索し「有効な設問パターン・過去の失敗事例・業界別ノウハウ」をコンテキストとして注入するRAG構成を実装。CMGリサーチャーが設計したプロンプトテンプレートをNotta Brainに組み込み、アウトプットの品質・方向性・粒度を標準化する。</a:t>
            </a:r>
          </a:p>
        </p:txBody>
      </p:sp>
      <p:sp>
        <p:nvSpPr>
          <p:cNvPr id="14" name="Rectangle 13"/>
          <p:cNvSpPr/>
          <p:nvPr/>
        </p:nvSpPr>
        <p:spPr>
          <a:xfrm>
            <a:off x="6176772" y="3499104"/>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1364" y="3663696"/>
            <a:ext cx="5134356" cy="347472"/>
          </a:xfrm>
          <a:prstGeom prst="rect">
            <a:avLst/>
          </a:prstGeom>
          <a:noFill/>
        </p:spPr>
        <p:txBody>
          <a:bodyPr wrap="square"/>
          <a:lstStyle/>
          <a:p>
            <a:pPr algn="l"/>
            <a:r>
              <a:rPr sz="1800" b="1">
                <a:solidFill>
                  <a:srgbClr val="2180FF"/>
                </a:solidFill>
                <a:latin typeface="Noto Sans"/>
              </a:rPr>
              <a:t>セキュリティ・データガバナンス</a:t>
            </a:r>
          </a:p>
        </p:txBody>
      </p:sp>
      <p:sp>
        <p:nvSpPr>
          <p:cNvPr id="16" name="TextBox 15"/>
          <p:cNvSpPr txBox="1"/>
          <p:nvPr/>
        </p:nvSpPr>
        <p:spPr>
          <a:xfrm>
            <a:off x="6341364" y="4047744"/>
            <a:ext cx="5134356" cy="723900"/>
          </a:xfrm>
          <a:prstGeom prst="rect">
            <a:avLst/>
          </a:prstGeom>
          <a:noFill/>
        </p:spPr>
        <p:txBody>
          <a:bodyPr wrap="square"/>
          <a:lstStyle/>
          <a:p>
            <a:pPr algn="l"/>
            <a:r>
              <a:rPr sz="1200" b="0">
                <a:solidFill>
                  <a:srgbClr val="262626"/>
                </a:solidFill>
                <a:latin typeface="Noto Sans"/>
              </a:rPr>
              <a:t>クライアント会議データは最高機密。テナント分離（データの物理的or論理的分離）・転送時TLS 1.3暗号化・保存時AES-256暗号化を全層に適用。NottaとCMG間でDPA（データ処理契約）を締結し責任分界点を明確化。CMGのクライアントへはデータ取扱いポリシー改定・同意取得フローの整備が必要（CMG側対応）。データ保存地域は日本国内サーバーを指定可能。</a:t>
            </a:r>
          </a:p>
        </p:txBody>
      </p:sp>
      <p:sp>
        <p:nvSpPr>
          <p:cNvPr id="17" name="Rectangle 16"/>
          <p:cNvSpPr/>
          <p:nvPr/>
        </p:nvSpPr>
        <p:spPr>
          <a:xfrm>
            <a:off x="548640" y="5100828"/>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5265420"/>
            <a:ext cx="5134356" cy="347472"/>
          </a:xfrm>
          <a:prstGeom prst="rect">
            <a:avLst/>
          </a:prstGeom>
          <a:noFill/>
        </p:spPr>
        <p:txBody>
          <a:bodyPr wrap="square"/>
          <a:lstStyle/>
          <a:p>
            <a:pPr algn="l"/>
            <a:r>
              <a:rPr sz="1800" b="1">
                <a:solidFill>
                  <a:srgbClr val="2180FF"/>
                </a:solidFill>
                <a:latin typeface="Noto Sans"/>
              </a:rPr>
              <a:t>開発分担と実装コスト最小化</a:t>
            </a:r>
          </a:p>
        </p:txBody>
      </p:sp>
      <p:sp>
        <p:nvSpPr>
          <p:cNvPr id="19" name="TextBox 18"/>
          <p:cNvSpPr txBox="1"/>
          <p:nvPr/>
        </p:nvSpPr>
        <p:spPr>
          <a:xfrm>
            <a:off x="713232" y="5649468"/>
            <a:ext cx="5134356" cy="723900"/>
          </a:xfrm>
          <a:prstGeom prst="rect">
            <a:avLst/>
          </a:prstGeom>
          <a:noFill/>
        </p:spPr>
        <p:txBody>
          <a:bodyPr wrap="square"/>
          <a:lstStyle/>
          <a:p>
            <a:pPr algn="l"/>
            <a:r>
              <a:rPr sz="1200" b="0">
                <a:solidFill>
                  <a:srgbClr val="262626"/>
                </a:solidFill>
                <a:latin typeface="Noto Sans"/>
              </a:rPr>
              <a:t>【Notta側負担】①API拡張（リサーチ用JSONスキーマ実装）、②プロンプトテンプレートエンジン、③CMGユースケース向けBrainカスタマイズ設定、④APIドキュメント・SDK・サンプルコード整備。【CMG側負担】①Notta APIアダプター（受信〜調査設計AI連携）、②秋雲へのインジェスト機能。フロントエンド改修ゼロ。CMG側は最小限のバックエンド連携のみ。</a:t>
            </a:r>
          </a:p>
        </p:txBody>
      </p:sp>
      <p:sp>
        <p:nvSpPr>
          <p:cNvPr id="20" name="Rectangle 19"/>
          <p:cNvSpPr/>
          <p:nvPr/>
        </p:nvSpPr>
        <p:spPr>
          <a:xfrm>
            <a:off x="6176772" y="5100828"/>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1364" y="5265420"/>
            <a:ext cx="5134356" cy="347472"/>
          </a:xfrm>
          <a:prstGeom prst="rect">
            <a:avLst/>
          </a:prstGeom>
          <a:noFill/>
        </p:spPr>
        <p:txBody>
          <a:bodyPr wrap="square"/>
          <a:lstStyle/>
          <a:p>
            <a:pPr algn="l"/>
            <a:r>
              <a:rPr sz="1800" b="1">
                <a:solidFill>
                  <a:srgbClr val="2180FF"/>
                </a:solidFill>
                <a:latin typeface="Noto Sans"/>
              </a:rPr>
              <a:t>将来拡張性：エコシステム化ロードマップ</a:t>
            </a:r>
          </a:p>
        </p:txBody>
      </p:sp>
      <p:sp>
        <p:nvSpPr>
          <p:cNvPr id="22" name="TextBox 21"/>
          <p:cNvSpPr txBox="1"/>
          <p:nvPr/>
        </p:nvSpPr>
        <p:spPr>
          <a:xfrm>
            <a:off x="6341364" y="5649468"/>
            <a:ext cx="5134356" cy="723900"/>
          </a:xfrm>
          <a:prstGeom prst="rect">
            <a:avLst/>
          </a:prstGeom>
          <a:noFill/>
        </p:spPr>
        <p:txBody>
          <a:bodyPr wrap="square"/>
          <a:lstStyle/>
          <a:p>
            <a:pPr algn="l"/>
            <a:r>
              <a:rPr sz="1200" b="0">
                <a:solidFill>
                  <a:srgbClr val="262626"/>
                </a:solidFill>
                <a:latin typeface="Noto Sans"/>
              </a:rPr>
              <a:t>Phase 1（PoC）：音声→調査設計の単方向連携。Phase 2（β）：秋雲・顧客ポータルとの双方向データ同期、過去調査RAGの本番稼働。Phase 3（外販）：CMGクライアント企業が直接利用できるセルフサービス型の「音声×リサーチ統合API」をSaaS提供。Nottatの他業界（人材・コンサル・広告）への垂直統合パターンとして横展開する。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1672" cy="411480"/>
          </a:xfrm>
          <a:prstGeom prst="rect">
            <a:avLst/>
          </a:prstGeom>
          <a:noFill/>
        </p:spPr>
        <p:txBody>
          <a:bodyPr wrap="square"/>
          <a:lstStyle/>
          <a:p>
            <a:pPr algn="l"/>
            <a:r>
              <a:rPr sz="1600" b="0">
                <a:solidFill>
                  <a:srgbClr val="2180FF"/>
                </a:solidFill>
                <a:latin typeface="Noto Sans"/>
              </a:rPr>
              <a:t>PoC設計：スコープ・KPI・予算・リスク管理</a:t>
            </a:r>
          </a:p>
        </p:txBody>
      </p:sp>
      <p:sp>
        <p:nvSpPr>
          <p:cNvPr id="3" name="Rectangle 2"/>
          <p:cNvSpPr/>
          <p:nvPr/>
        </p:nvSpPr>
        <p:spPr>
          <a:xfrm>
            <a:off x="548640" y="841248"/>
            <a:ext cx="11091672" cy="13716"/>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82980"/>
            <a:ext cx="11091672" cy="685800"/>
          </a:xfrm>
          <a:prstGeom prst="rect">
            <a:avLst/>
          </a:prstGeom>
          <a:noFill/>
        </p:spPr>
        <p:txBody>
          <a:bodyPr wrap="square"/>
          <a:lstStyle/>
          <a:p>
            <a:pPr algn="l"/>
            <a:r>
              <a:rPr sz="2000" b="1">
                <a:solidFill>
                  <a:srgbClr val="262626"/>
                </a:solidFill>
                <a:latin typeface="Noto Sans"/>
              </a:rPr>
              <a:t>「失敗しても数百万円で収まる」スモールスタートで技術検証を完了。3ヶ月以内にプロトタイプを構築し、双方の本格協業可否を判断する</a:t>
            </a:r>
          </a:p>
        </p:txBody>
      </p:sp>
      <p:sp>
        <p:nvSpPr>
          <p:cNvPr id="5" name="Rectangle 4"/>
          <p:cNvSpPr/>
          <p:nvPr/>
        </p:nvSpPr>
        <p:spPr>
          <a:xfrm>
            <a:off x="548640" y="1897380"/>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061972"/>
            <a:ext cx="5134356" cy="347472"/>
          </a:xfrm>
          <a:prstGeom prst="rect">
            <a:avLst/>
          </a:prstGeom>
          <a:noFill/>
        </p:spPr>
        <p:txBody>
          <a:bodyPr wrap="square"/>
          <a:lstStyle/>
          <a:p>
            <a:pPr algn="l"/>
            <a:r>
              <a:rPr sz="1800" b="1">
                <a:solidFill>
                  <a:srgbClr val="2180FF"/>
                </a:solidFill>
                <a:latin typeface="Noto Sans"/>
              </a:rPr>
              <a:t>PoCスコープ：上流フロー検証に集中</a:t>
            </a:r>
          </a:p>
        </p:txBody>
      </p:sp>
      <p:sp>
        <p:nvSpPr>
          <p:cNvPr id="7" name="TextBox 6"/>
          <p:cNvSpPr txBox="1"/>
          <p:nvPr/>
        </p:nvSpPr>
        <p:spPr>
          <a:xfrm>
            <a:off x="713232" y="2446020"/>
            <a:ext cx="5134356" cy="723900"/>
          </a:xfrm>
          <a:prstGeom prst="rect">
            <a:avLst/>
          </a:prstGeom>
          <a:noFill/>
        </p:spPr>
        <p:txBody>
          <a:bodyPr wrap="square"/>
          <a:lstStyle/>
          <a:p>
            <a:pPr algn="l"/>
            <a:r>
              <a:rPr sz="1200" b="0">
                <a:solidFill>
                  <a:srgbClr val="262626"/>
                </a:solidFill>
                <a:latin typeface="Noto Sans"/>
              </a:rPr>
              <a:t>検証対象：「録音済み会議音声（既存音源使用）→Notta文字起こし・JSON出力→CMG調査設計AI→秋雲での設問プレビュー表示」までの一気通貫フロー。配信・回収・レポートはPoC対象外とし複雑性を排除。ダミーデータ3〜5案件分で検証し、フロー技術的実現可能性・API仕様の妥当性・UX品質を確認する。</a:t>
            </a:r>
          </a:p>
        </p:txBody>
      </p:sp>
      <p:sp>
        <p:nvSpPr>
          <p:cNvPr id="8" name="Rectangle 7"/>
          <p:cNvSpPr/>
          <p:nvPr/>
        </p:nvSpPr>
        <p:spPr>
          <a:xfrm>
            <a:off x="6176772" y="1897380"/>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1364" y="2061972"/>
            <a:ext cx="5134356" cy="347472"/>
          </a:xfrm>
          <a:prstGeom prst="rect">
            <a:avLst/>
          </a:prstGeom>
          <a:noFill/>
        </p:spPr>
        <p:txBody>
          <a:bodyPr wrap="square"/>
          <a:lstStyle/>
          <a:p>
            <a:pPr algn="l"/>
            <a:r>
              <a:rPr sz="1800" b="1">
                <a:solidFill>
                  <a:srgbClr val="2180FF"/>
                </a:solidFill>
                <a:latin typeface="Noto Sans"/>
              </a:rPr>
              <a:t>予算・期間・体制</a:t>
            </a:r>
          </a:p>
        </p:txBody>
      </p:sp>
      <p:sp>
        <p:nvSpPr>
          <p:cNvPr id="10" name="TextBox 9"/>
          <p:cNvSpPr txBox="1"/>
          <p:nvPr/>
        </p:nvSpPr>
        <p:spPr>
          <a:xfrm>
            <a:off x="6341364" y="2446020"/>
            <a:ext cx="5134356" cy="723900"/>
          </a:xfrm>
          <a:prstGeom prst="rect">
            <a:avLst/>
          </a:prstGeom>
          <a:noFill/>
        </p:spPr>
        <p:txBody>
          <a:bodyPr wrap="square"/>
          <a:lstStyle/>
          <a:p>
            <a:pPr algn="l"/>
            <a:r>
              <a:rPr sz="1200" b="0">
                <a:solidFill>
                  <a:srgbClr val="262626"/>
                </a:solidFill>
                <a:latin typeface="Noto Sans"/>
              </a:rPr>
              <a:t>【予算】Notta側：API拡張・プロンプト設計・ドキュメント整備で200〜300万円。CMG側：アダプター実装・秋雲連携で100〜200万円。合計300〜500万円規模を想定（岡崎様言及：「数百万円で収まるレベル」）。【期間】PoC設計合意（4月）→実装（5〜6月）→検証・評価（6月末）の3ヶ月。【体制】Notta（河野・奥寺＋エンジニア1名）、CMG（岡崎様＋開発担当1〜2名）。</a:t>
            </a:r>
          </a:p>
        </p:txBody>
      </p:sp>
      <p:sp>
        <p:nvSpPr>
          <p:cNvPr id="11" name="Rectangle 10"/>
          <p:cNvSpPr/>
          <p:nvPr/>
        </p:nvSpPr>
        <p:spPr>
          <a:xfrm>
            <a:off x="548640" y="3499104"/>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663696"/>
            <a:ext cx="5134356" cy="347472"/>
          </a:xfrm>
          <a:prstGeom prst="rect">
            <a:avLst/>
          </a:prstGeom>
          <a:noFill/>
        </p:spPr>
        <p:txBody>
          <a:bodyPr wrap="square"/>
          <a:lstStyle/>
          <a:p>
            <a:pPr algn="l"/>
            <a:r>
              <a:rPr sz="1800" b="1">
                <a:solidFill>
                  <a:srgbClr val="2180FF"/>
                </a:solidFill>
                <a:latin typeface="Noto Sans"/>
              </a:rPr>
              <a:t>検証KPI①：スピード・品質</a:t>
            </a:r>
          </a:p>
        </p:txBody>
      </p:sp>
      <p:sp>
        <p:nvSpPr>
          <p:cNvPr id="13" name="TextBox 12"/>
          <p:cNvSpPr txBox="1"/>
          <p:nvPr/>
        </p:nvSpPr>
        <p:spPr>
          <a:xfrm>
            <a:off x="713232" y="4047744"/>
            <a:ext cx="5134356" cy="723900"/>
          </a:xfrm>
          <a:prstGeom prst="rect">
            <a:avLst/>
          </a:prstGeom>
          <a:noFill/>
        </p:spPr>
        <p:txBody>
          <a:bodyPr wrap="square"/>
          <a:lstStyle/>
          <a:p>
            <a:pPr algn="l"/>
            <a:r>
              <a:rPr sz="1200" b="0">
                <a:solidFill>
                  <a:srgbClr val="262626"/>
                </a:solidFill>
                <a:latin typeface="Noto Sans"/>
              </a:rPr>
              <a:t>【KPI-1】調査設計リードタイム：現状（会議〜設計完成まで平均5〜7営業日）→PoC目標（会議終了当日中＝0.5営業日以内）。【KPI-2】設問品質スコア：CMGリサーチャーによる5段階評価で平均4.0以上。【KPI-3】クライアント意図合致率：会議での発言意図と生成設問のベクトル一致度を定性評価で80%以上。</a:t>
            </a:r>
          </a:p>
        </p:txBody>
      </p:sp>
      <p:sp>
        <p:nvSpPr>
          <p:cNvPr id="14" name="Rectangle 13"/>
          <p:cNvSpPr/>
          <p:nvPr/>
        </p:nvSpPr>
        <p:spPr>
          <a:xfrm>
            <a:off x="6176772" y="3499104"/>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1364" y="3663696"/>
            <a:ext cx="5134356" cy="347472"/>
          </a:xfrm>
          <a:prstGeom prst="rect">
            <a:avLst/>
          </a:prstGeom>
          <a:noFill/>
        </p:spPr>
        <p:txBody>
          <a:bodyPr wrap="square"/>
          <a:lstStyle/>
          <a:p>
            <a:pPr algn="l"/>
            <a:r>
              <a:rPr sz="1800" b="1">
                <a:solidFill>
                  <a:srgbClr val="2180FF"/>
                </a:solidFill>
                <a:latin typeface="Noto Sans"/>
              </a:rPr>
              <a:t>検証KPI②：技術・UX</a:t>
            </a:r>
          </a:p>
        </p:txBody>
      </p:sp>
      <p:sp>
        <p:nvSpPr>
          <p:cNvPr id="16" name="TextBox 15"/>
          <p:cNvSpPr txBox="1"/>
          <p:nvPr/>
        </p:nvSpPr>
        <p:spPr>
          <a:xfrm>
            <a:off x="6341364" y="4047744"/>
            <a:ext cx="5134356" cy="723900"/>
          </a:xfrm>
          <a:prstGeom prst="rect">
            <a:avLst/>
          </a:prstGeom>
          <a:noFill/>
        </p:spPr>
        <p:txBody>
          <a:bodyPr wrap="square"/>
          <a:lstStyle/>
          <a:p>
            <a:pPr algn="l"/>
            <a:r>
              <a:rPr sz="1200" b="0">
                <a:solidFill>
                  <a:srgbClr val="262626"/>
                </a:solidFill>
                <a:latin typeface="Noto Sans"/>
              </a:rPr>
              <a:t>【KPI-4】API応答速度：音声テキスト送信〜調査設計AI返答まで30秒以内（30分会議の場合）。【KPI-5】文字起こし精度：日本語WER（単語誤り率）5%以下。【KPI-6】マーケター層操作完結率：介入なしで設問プレビューまで到達できる割合80%以上（非リサーチャー5名によるユーザーテスト）。</a:t>
            </a:r>
          </a:p>
        </p:txBody>
      </p:sp>
      <p:sp>
        <p:nvSpPr>
          <p:cNvPr id="17" name="Rectangle 16"/>
          <p:cNvSpPr/>
          <p:nvPr/>
        </p:nvSpPr>
        <p:spPr>
          <a:xfrm>
            <a:off x="548640" y="5100828"/>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5265420"/>
            <a:ext cx="5134356" cy="347472"/>
          </a:xfrm>
          <a:prstGeom prst="rect">
            <a:avLst/>
          </a:prstGeom>
          <a:noFill/>
        </p:spPr>
        <p:txBody>
          <a:bodyPr wrap="square"/>
          <a:lstStyle/>
          <a:p>
            <a:pPr algn="l"/>
            <a:r>
              <a:rPr sz="1800" b="1">
                <a:solidFill>
                  <a:srgbClr val="2180FF"/>
                </a:solidFill>
                <a:latin typeface="Noto Sans"/>
              </a:rPr>
              <a:t>リスクと対応策</a:t>
            </a:r>
          </a:p>
        </p:txBody>
      </p:sp>
      <p:sp>
        <p:nvSpPr>
          <p:cNvPr id="19" name="TextBox 18"/>
          <p:cNvSpPr txBox="1"/>
          <p:nvPr/>
        </p:nvSpPr>
        <p:spPr>
          <a:xfrm>
            <a:off x="713232" y="5649468"/>
            <a:ext cx="5134356" cy="723900"/>
          </a:xfrm>
          <a:prstGeom prst="rect">
            <a:avLst/>
          </a:prstGeom>
          <a:noFill/>
        </p:spPr>
        <p:txBody>
          <a:bodyPr wrap="square"/>
          <a:lstStyle/>
          <a:p>
            <a:pPr algn="l"/>
            <a:r>
              <a:rPr sz="1200" b="0">
                <a:solidFill>
                  <a:srgbClr val="262626"/>
                </a:solidFill>
                <a:latin typeface="Noto Sans"/>
              </a:rPr>
              <a:t>【R1】CMG調査設計AIの入力仕様が未確定→モックAPIで並行開発、4月MTGで仕様書確定。【R2】過去調査データの社内承認が遅延→ダミーデータでフロー先行検証、RAGは後フェーズで組み込み。【R3】CMG側エンジニアリソース不足→Notta側がサンプル実装（Python/TypeScript）を提供し実装工数を圧縮。【R4】後戻りできない大規模開発化→フェーズ分割を厳守し各フェーズ終了時にGo/No-Goを判断する。</a:t>
            </a:r>
          </a:p>
        </p:txBody>
      </p:sp>
      <p:sp>
        <p:nvSpPr>
          <p:cNvPr id="20" name="Rectangle 19"/>
          <p:cNvSpPr/>
          <p:nvPr/>
        </p:nvSpPr>
        <p:spPr>
          <a:xfrm>
            <a:off x="6176772" y="5100828"/>
            <a:ext cx="5463540" cy="14371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1364" y="5265420"/>
            <a:ext cx="5134356" cy="347472"/>
          </a:xfrm>
          <a:prstGeom prst="rect">
            <a:avLst/>
          </a:prstGeom>
          <a:noFill/>
        </p:spPr>
        <p:txBody>
          <a:bodyPr wrap="square"/>
          <a:lstStyle/>
          <a:p>
            <a:pPr algn="l"/>
            <a:r>
              <a:rPr sz="1800" b="1">
                <a:solidFill>
                  <a:srgbClr val="2180FF"/>
                </a:solidFill>
                <a:latin typeface="Noto Sans"/>
              </a:rPr>
              <a:t>PoC成功後のロードマップ</a:t>
            </a:r>
          </a:p>
        </p:txBody>
      </p:sp>
      <p:sp>
        <p:nvSpPr>
          <p:cNvPr id="22" name="TextBox 21"/>
          <p:cNvSpPr txBox="1"/>
          <p:nvPr/>
        </p:nvSpPr>
        <p:spPr>
          <a:xfrm>
            <a:off x="6341364" y="5649468"/>
            <a:ext cx="5134356" cy="723900"/>
          </a:xfrm>
          <a:prstGeom prst="rect">
            <a:avLst/>
          </a:prstGeom>
          <a:noFill/>
        </p:spPr>
        <p:txBody>
          <a:bodyPr wrap="square"/>
          <a:lstStyle/>
          <a:p>
            <a:pPr algn="l"/>
            <a:r>
              <a:rPr sz="1200" b="0">
                <a:solidFill>
                  <a:srgbClr val="262626"/>
                </a:solidFill>
                <a:latin typeface="Noto Sans"/>
              </a:rPr>
              <a:t>【Phase 2：β版（〜Q3 2026）】CMGの一部クライアントへのβ提供、秋雲との本番API連携、過去調査RAGの稼働。【Phase 3：正式リリース（〜Q4 2026）】CMGクライアント全社への展開、課金モデル設計（Notta従量課金＋CMGサービス料）。【Phase 4：外販（2027〜）】「音声×リサーチ自動化」を国産XMプラットフォームとして他業界・他社へ展開。Nottaは他垂直市場への統合パターンとして横展開。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